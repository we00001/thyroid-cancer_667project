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y="5143500" cx="9144000"/>
  <p:notesSz cx="6858000" cy="9144000"/>
  <p:embeddedFontLst>
    <p:embeddedFont>
      <p:font typeface="Raleway"/>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760800-C3AC-49E0-8DEC-12EEE9EAD7C3}">
  <a:tblStyle styleId="{85760800-C3AC-49E0-8DEC-12EEE9EAD7C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aleway-boldItalic.fntdata"/><Relationship Id="rId70" Type="http://schemas.openxmlformats.org/officeDocument/2006/relationships/font" Target="fonts/Raleway-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Raleway-regular.fntdata"/><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aleway-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ER</a:t>
            </a:r>
            <a:endParaRPr b="1"/>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aa22fb0e2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aa22fb0e2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ccb0dd5d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ccb0dd5d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a22fb0e2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a22fb0e2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a7d07c0c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a7d07c0c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a7d07c0c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a7d07c0c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a7d07c0c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a7d07c0c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a7d07c0c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a7d07c0c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a7d07c0c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a7d07c0c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a7d07c0c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a7d07c0c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a7d07c0c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a7d07c0c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a22fb0e2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a22fb0e2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a99f25ff9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a99f25ff9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DH</a:t>
            </a:r>
            <a:endParaRPr/>
          </a:p>
          <a:p>
            <a:pPr indent="0" lvl="0" marL="0" rtl="0" algn="l">
              <a:spcBef>
                <a:spcPts val="1200"/>
              </a:spcBef>
              <a:spcAft>
                <a:spcPts val="0"/>
              </a:spcAft>
              <a:buClr>
                <a:schemeClr val="dk1"/>
              </a:buClr>
              <a:buSzPts val="1100"/>
              <a:buFont typeface="Arial"/>
              <a:buNone/>
            </a:pPr>
            <a:r>
              <a:rPr lang="en" sz="1500">
                <a:solidFill>
                  <a:schemeClr val="dk1"/>
                </a:solidFill>
              </a:rPr>
              <a:t>We’re looking at how demographic and self-assessment features relate to whether a patient is malignant or benign. These features include age, gender, BMI, family history, and wearable-based measures like heart rate, steps, sleep, stress, and so on.</a:t>
            </a:r>
            <a:endParaRPr sz="15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a99f25ff9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a99f25ff9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DH</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a22fb0e2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a22fb0e2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DH</a:t>
            </a:r>
            <a:endParaRPr/>
          </a:p>
          <a:p>
            <a:pPr indent="0" lvl="0" marL="0" rtl="0" algn="l">
              <a:spcBef>
                <a:spcPts val="1200"/>
              </a:spcBef>
              <a:spcAft>
                <a:spcPts val="0"/>
              </a:spcAft>
              <a:buClr>
                <a:schemeClr val="dk1"/>
              </a:buClr>
              <a:buSzPts val="1100"/>
              <a:buFont typeface="Arial"/>
              <a:buNone/>
            </a:pPr>
            <a:r>
              <a:rPr lang="en" sz="1500">
                <a:solidFill>
                  <a:schemeClr val="dk1"/>
                </a:solidFill>
              </a:rPr>
              <a:t>We analyze the data using GLM, GEE and GLMM.</a:t>
            </a:r>
            <a:endParaRPr sz="1500">
              <a:solidFill>
                <a:schemeClr val="dk1"/>
              </a:solidFill>
            </a:endParaRPr>
          </a:p>
          <a:p>
            <a:pPr indent="0" lvl="0" marL="0" rtl="0" algn="l">
              <a:spcBef>
                <a:spcPts val="1200"/>
              </a:spcBef>
              <a:spcAft>
                <a:spcPts val="0"/>
              </a:spcAft>
              <a:buClr>
                <a:schemeClr val="dk1"/>
              </a:buClr>
              <a:buSzPts val="1100"/>
              <a:buFont typeface="Arial"/>
              <a:buNone/>
            </a:pPr>
            <a:r>
              <a:rPr lang="en" sz="1500">
                <a:solidFill>
                  <a:schemeClr val="dk1"/>
                </a:solidFill>
              </a:rPr>
              <a:t>First, all the continuous variables were scaled and centered.</a:t>
            </a:r>
            <a:endParaRPr sz="1500">
              <a:solidFill>
                <a:schemeClr val="dk1"/>
              </a:solidFill>
            </a:endParaRPr>
          </a:p>
          <a:p>
            <a:pPr indent="0" lvl="0" marL="0" rtl="0" algn="l">
              <a:spcBef>
                <a:spcPts val="1200"/>
              </a:spcBef>
              <a:spcAft>
                <a:spcPts val="0"/>
              </a:spcAft>
              <a:buClr>
                <a:schemeClr val="dk1"/>
              </a:buClr>
              <a:buSzPts val="1100"/>
              <a:buFont typeface="Arial"/>
              <a:buNone/>
            </a:pPr>
            <a:r>
              <a:rPr lang="en" sz="1500">
                <a:solidFill>
                  <a:schemeClr val="dk1"/>
                </a:solidFill>
              </a:rPr>
              <a:t>For the GLM model, it assumes independence between visits for each patient.</a:t>
            </a:r>
            <a:endParaRPr sz="1500">
              <a:solidFill>
                <a:schemeClr val="dk1"/>
              </a:solidFill>
            </a:endParaRPr>
          </a:p>
          <a:p>
            <a:pPr indent="0" lvl="0" marL="0" rtl="0" algn="l">
              <a:spcBef>
                <a:spcPts val="1200"/>
              </a:spcBef>
              <a:spcAft>
                <a:spcPts val="0"/>
              </a:spcAft>
              <a:buClr>
                <a:schemeClr val="dk1"/>
              </a:buClr>
              <a:buSzPts val="1100"/>
              <a:buFont typeface="Arial"/>
              <a:buNone/>
            </a:pPr>
            <a:br>
              <a:rPr lang="en" sz="1500">
                <a:solidFill>
                  <a:schemeClr val="dk1"/>
                </a:solidFill>
              </a:rPr>
            </a:br>
            <a:r>
              <a:rPr lang="en" sz="1500">
                <a:solidFill>
                  <a:schemeClr val="dk1"/>
                </a:solidFill>
              </a:rPr>
              <a:t> GEE normally accounts for within patient correlation, but here the outcome never changes, so GEE can’t really estimate a meaningful correlation structure.</a:t>
            </a:r>
            <a:endParaRPr sz="15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a99f25ff9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a99f25ff9_3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ZZZ </a:t>
            </a:r>
            <a:r>
              <a:rPr lang="en">
                <a:solidFill>
                  <a:schemeClr val="dk1"/>
                </a:solidFill>
              </a:rPr>
              <a:t>"For GLMM, we fit a </a:t>
            </a:r>
            <a:r>
              <a:rPr b="1" lang="en">
                <a:solidFill>
                  <a:schemeClr val="dk1"/>
                </a:solidFill>
              </a:rPr>
              <a:t>Random Intercept Logistic GLMM</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modeled the diagnosis outcome against Visit Number and key covariates, and a random intercept to account for the correlation within each patient.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critical technical detail to note is that we used </a:t>
            </a:r>
            <a:r>
              <a:rPr b="1" lang="en">
                <a:solidFill>
                  <a:schemeClr val="dk1"/>
                </a:solidFill>
              </a:rPr>
              <a:t>nAGQ = 0</a:t>
            </a:r>
            <a:r>
              <a:rPr lang="en">
                <a:solidFill>
                  <a:schemeClr val="dk1"/>
                </a:solidFill>
              </a:rPr>
              <a:t> for estimation. Given the massive size of our dataset, standard methods were too computationally intensive.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we will report </a:t>
            </a:r>
            <a:r>
              <a:rPr b="1" lang="en">
                <a:solidFill>
                  <a:schemeClr val="dk1"/>
                </a:solidFill>
              </a:rPr>
              <a:t>subject-specific Odds Ratios</a:t>
            </a:r>
            <a:r>
              <a:rPr lang="en">
                <a:solidFill>
                  <a:schemeClr val="dk1"/>
                </a:solidFill>
              </a:rPr>
              <a:t> and use the </a:t>
            </a:r>
            <a:r>
              <a:rPr b="1" lang="en">
                <a:solidFill>
                  <a:schemeClr val="dk1"/>
                </a:solidFill>
              </a:rPr>
              <a:t>ICC</a:t>
            </a:r>
            <a:r>
              <a:rPr lang="en">
                <a:solidFill>
                  <a:schemeClr val="dk1"/>
                </a:solidFill>
              </a:rPr>
              <a:t> to quantify how much variation comes from patient differences, while checking our assumptions with pearson  residual plots and qq plot."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a22fb0e2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a22fb0e2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a22fb0e2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a22fb0e2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a7d07c0c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a7d07c0c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a7d07c0c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a7d07c0c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a7d07c0c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a7d07c0c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a7d07c0c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a7d07c0c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a7d07c0c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a7d07c0c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a7d07c0c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a7d07c0c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a99f25ff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a99f25ff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ZZZ： </a:t>
            </a:r>
            <a:r>
              <a:rPr lang="en">
                <a:solidFill>
                  <a:schemeClr val="dk1"/>
                </a:solidFill>
              </a:rPr>
              <a:t>The methods for GLMM for </a:t>
            </a:r>
            <a:r>
              <a:rPr lang="en">
                <a:solidFill>
                  <a:schemeClr val="dk1"/>
                </a:solidFill>
              </a:rPr>
              <a:t>clinical</a:t>
            </a:r>
            <a:r>
              <a:rPr lang="en">
                <a:solidFill>
                  <a:schemeClr val="dk1"/>
                </a:solidFill>
              </a:rPr>
              <a:t> assessment is same as the self-assement one. We will also assessing </a:t>
            </a:r>
            <a:r>
              <a:rPr b="1" lang="en">
                <a:solidFill>
                  <a:schemeClr val="dk1"/>
                </a:solidFill>
              </a:rPr>
              <a:t>Performance</a:t>
            </a:r>
            <a:r>
              <a:rPr lang="en">
                <a:solidFill>
                  <a:schemeClr val="dk1"/>
                </a:solidFill>
              </a:rPr>
              <a:t> and investigating </a:t>
            </a:r>
            <a:r>
              <a:rPr b="1" lang="en">
                <a:solidFill>
                  <a:schemeClr val="dk1"/>
                </a:solidFill>
              </a:rPr>
              <a:t>Heterogeneity between two models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for performance, we use </a:t>
            </a:r>
            <a:r>
              <a:rPr b="1" lang="en">
                <a:solidFill>
                  <a:schemeClr val="dk1"/>
                </a:solidFill>
              </a:rPr>
              <a:t>AIC</a:t>
            </a:r>
            <a:r>
              <a:rPr lang="en">
                <a:solidFill>
                  <a:schemeClr val="dk1"/>
                </a:solidFill>
              </a:rPr>
              <a:t> to compare model fit. Our hypothesis is that Model 2 will demonstrate superior explanatory power over the demographics-only Model 1. We will also test the significance of both demographic and clinical fixed effects to validate their utility as risk drivers.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Second, we are deeply interested in </a:t>
            </a:r>
            <a:r>
              <a:rPr b="1" lang="en">
                <a:solidFill>
                  <a:schemeClr val="dk1"/>
                </a:solidFill>
              </a:rPr>
              <a:t>unmeasured heterogeneity</a:t>
            </a:r>
            <a:r>
              <a:rPr lang="en">
                <a:solidFill>
                  <a:schemeClr val="dk1"/>
                </a:solidFill>
              </a:rPr>
              <a:t>. By estimating the random intercept variance, we can quantify baseline risk differences between patients. A key question is whether adding clinical features in Model 2 </a:t>
            </a:r>
            <a:r>
              <a:rPr i="1" lang="en">
                <a:solidFill>
                  <a:schemeClr val="dk1"/>
                </a:solidFill>
              </a:rPr>
              <a:t>reduces </a:t>
            </a:r>
            <a:r>
              <a:rPr lang="en">
                <a:solidFill>
                  <a:schemeClr val="dk1"/>
                </a:solidFill>
              </a:rPr>
              <a:t>this unexplained variance, which would indicate we have successfully captured those underlying risk factors."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b5a8be42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ab5a8be42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ZZZ：</a:t>
            </a:r>
            <a:r>
              <a:rPr lang="en">
                <a:solidFill>
                  <a:schemeClr val="dk1"/>
                </a:solidFill>
              </a:rPr>
              <a:t>Finally, to validate our modeling choices, we conduct a thorough </a:t>
            </a:r>
            <a:r>
              <a:rPr b="1" lang="en">
                <a:solidFill>
                  <a:schemeClr val="dk1"/>
                </a:solidFill>
              </a:rPr>
              <a:t>Assumptions Check</a:t>
            </a:r>
            <a:r>
              <a:rPr lang="en">
                <a:solidFill>
                  <a:schemeClr val="dk1"/>
                </a:solidFill>
              </a:rPr>
              <a:t> using Pearson residuals and Q-Q plots.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Ultimately, we will determine model superiority based on two criteria: </a:t>
            </a:r>
            <a:r>
              <a:rPr b="1" lang="en">
                <a:solidFill>
                  <a:schemeClr val="dk1"/>
                </a:solidFill>
              </a:rPr>
              <a:t>Statistical Validity</a:t>
            </a:r>
            <a:r>
              <a:rPr lang="en">
                <a:solidFill>
                  <a:schemeClr val="dk1"/>
                </a:solidFill>
              </a:rPr>
              <a:t> and </a:t>
            </a:r>
            <a:r>
              <a:rPr b="1" lang="en">
                <a:solidFill>
                  <a:schemeClr val="dk1"/>
                </a:solidFill>
              </a:rPr>
              <a:t>Predictive Capability</a:t>
            </a:r>
            <a:r>
              <a:rPr lang="en">
                <a:solidFill>
                  <a:schemeClr val="dk1"/>
                </a:solidFill>
              </a:rPr>
              <a:t>. We are looking for a model that identifies actionable, significant predictors rather than leaving the risk profile explained by unobserved heterogeneity.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a22fb0e28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a22fb0e2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DH</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a99f25ff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a99f25ff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DH</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a99f25ff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a99f25ff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DH</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a99f25ff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aa99f25ff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DH</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a99f25ff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a99f25ff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DH</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a99f25ff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a99f25ff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DH</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a99f25ff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aa99f25ff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ZZZ：</a:t>
            </a:r>
            <a:r>
              <a:rPr lang="en">
                <a:solidFill>
                  <a:schemeClr val="dk1"/>
                </a:solidFill>
              </a:rPr>
              <a:t>"Here are the results for Model 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Surprisingly, </a:t>
            </a:r>
            <a:r>
              <a:rPr b="1" lang="en">
                <a:solidFill>
                  <a:schemeClr val="dk1"/>
                </a:solidFill>
              </a:rPr>
              <a:t>only the intercept is significant</a:t>
            </a:r>
            <a:r>
              <a:rPr lang="en">
                <a:solidFill>
                  <a:schemeClr val="dk1"/>
                </a:solidFill>
              </a:rPr>
              <a:t>; none of the demographic predictors showed statistical significance.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However, the random effects variance is enormous at </a:t>
            </a:r>
            <a:r>
              <a:rPr b="1" lang="en">
                <a:solidFill>
                  <a:schemeClr val="dk1"/>
                </a:solidFill>
              </a:rPr>
              <a:t>86.57</a:t>
            </a:r>
            <a:r>
              <a:rPr lang="en">
                <a:solidFill>
                  <a:schemeClr val="dk1"/>
                </a:solidFill>
              </a:rPr>
              <a:t>, yielding an extremely high </a:t>
            </a:r>
            <a:r>
              <a:rPr b="1" lang="en">
                <a:solidFill>
                  <a:schemeClr val="dk1"/>
                </a:solidFill>
              </a:rPr>
              <a:t>ICC of 0.963</a:t>
            </a:r>
            <a:r>
              <a:rPr lang="en">
                <a:solidFill>
                  <a:schemeClr val="dk1"/>
                </a:solidFill>
              </a:rPr>
              <a:t>. This tells us that nearly all the variation in diagnosis is driven by unmeasured differences </a:t>
            </a:r>
            <a:r>
              <a:rPr i="1" lang="en">
                <a:solidFill>
                  <a:schemeClr val="dk1"/>
                </a:solidFill>
              </a:rPr>
              <a:t>between</a:t>
            </a:r>
            <a:r>
              <a:rPr lang="en">
                <a:solidFill>
                  <a:schemeClr val="dk1"/>
                </a:solidFill>
              </a:rPr>
              <a:t> patients, rather than the demographic variables we included. This strongly motivates the need for Model 2."</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acdb775e9f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acdb775e9f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ZZZ: </a:t>
            </a:r>
            <a:r>
              <a:rPr lang="en">
                <a:solidFill>
                  <a:schemeClr val="dk1"/>
                </a:solidFill>
              </a:rPr>
              <a:t>We see a clear approximate </a:t>
            </a:r>
            <a:r>
              <a:rPr b="1" lang="en">
                <a:solidFill>
                  <a:schemeClr val="dk1"/>
                </a:solidFill>
              </a:rPr>
              <a:t>binomial</a:t>
            </a:r>
            <a:r>
              <a:rPr b="1" lang="en">
                <a:solidFill>
                  <a:schemeClr val="dk1"/>
                </a:solidFill>
              </a:rPr>
              <a:t> distribution</a:t>
            </a:r>
            <a:r>
              <a:rPr lang="en">
                <a:solidFill>
                  <a:schemeClr val="dk1"/>
                </a:solidFill>
              </a:rPr>
              <a:t>—two separate clusters of random effects. One cluster corresponds to patients who are always 'benign' and the other to those always 'malignant'.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violates the normality assumption of the random effects. It confirms that we don't have a continuum of risk, but rather two distinct populations that our current predictors—demographic or clinical—cannot differentiate.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a99f25ff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a99f25ff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ZZZ："Looking at the diagnostic Q-Q plot for the random effects, we see a distinct separation into two clusters around -1.5 and 8.</a:t>
            </a:r>
            <a:endParaRPr/>
          </a:p>
          <a:p>
            <a:pPr indent="0" lvl="0" marL="0" rtl="0" algn="l">
              <a:lnSpc>
                <a:spcPct val="115000"/>
              </a:lnSpc>
              <a:spcBef>
                <a:spcPts val="1200"/>
              </a:spcBef>
              <a:spcAft>
                <a:spcPts val="0"/>
              </a:spcAft>
              <a:buClr>
                <a:schemeClr val="dk1"/>
              </a:buClr>
              <a:buSzPts val="1100"/>
              <a:buFont typeface="Arial"/>
              <a:buNone/>
            </a:pPr>
            <a:r>
              <a:rPr lang="en"/>
              <a:t>This bimodal distribution suggests the random effects are not normally distributed, violating a key assumption. Instead, it indicates our patient population is likely splitting into two distinct latent groups—perhaps 'high risk' and 'low risk'—that our current demographic predictors fail to capture."</a:t>
            </a:r>
            <a:endParaRPr/>
          </a:p>
          <a:p>
            <a:pPr indent="0" lvl="0" marL="0" rtl="0" algn="l">
              <a:spcBef>
                <a:spcPts val="120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acdb775e9f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acdb775e9f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ZZZ： </a:t>
            </a:r>
            <a:r>
              <a:rPr lang="en">
                <a:solidFill>
                  <a:schemeClr val="dk1"/>
                </a:solidFill>
              </a:rPr>
              <a:t>"To understand </a:t>
            </a:r>
            <a:r>
              <a:rPr i="1" lang="en">
                <a:solidFill>
                  <a:schemeClr val="dk1"/>
                </a:solidFill>
              </a:rPr>
              <a:t>why</a:t>
            </a:r>
            <a:r>
              <a:rPr lang="en">
                <a:solidFill>
                  <a:schemeClr val="dk1"/>
                </a:solidFill>
              </a:rPr>
              <a:t> our models failed to explain this variance, we plotted the longitudinal trajectories for individual patients.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As you can see, the diagnosis label for any given patient is essentially </a:t>
            </a:r>
            <a:r>
              <a:rPr b="1" lang="en">
                <a:solidFill>
                  <a:schemeClr val="dk1"/>
                </a:solidFill>
              </a:rPr>
              <a:t>static</a:t>
            </a:r>
            <a:r>
              <a:rPr lang="en">
                <a:solidFill>
                  <a:schemeClr val="dk1"/>
                </a:solidFill>
              </a:rPr>
              <a:t>. It does not change over time. Patients are either always 'benign' (0) or always 'malignant' (1) throughout the study.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explains the enormous random effects variance: the model is trying to fit a longitudinal curve to data that has no longitudinal variation within patients. It effectively collapses into a cross-sectional problem where 'who the patient is' determines 100% of the outcome."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a22fb0e2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a22fb0e2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a22fb0e2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aa22fb0e2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aa7d07c0c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aa7d07c0c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a7d07c0c7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aa7d07c0c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aa7d07c0c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aa7d07c0c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aa7d07c0c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aa7d07c0c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aa7d07c0c7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aa7d07c0c7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a7d07c0c7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aa7d07c0c7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aa7d07c0c7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aa7d07c0c7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aa7d07c0c7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aa7d07c0c7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aa7d07c0c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aa7d07c0c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accb0dd5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accb0dd5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ZZZ: </a:t>
            </a:r>
            <a:r>
              <a:rPr lang="en">
                <a:solidFill>
                  <a:schemeClr val="dk1"/>
                </a:solidFill>
              </a:rPr>
              <a:t>Here are the GLMM results for Model 2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outcome is similar to the model 1. Looking at the coefficient table, despite adding clinically relevant variables like </a:t>
            </a:r>
            <a:r>
              <a:rPr b="1" lang="en">
                <a:solidFill>
                  <a:schemeClr val="dk1"/>
                </a:solidFill>
              </a:rPr>
              <a:t>Nodule Size</a:t>
            </a:r>
            <a:r>
              <a:rPr lang="en">
                <a:solidFill>
                  <a:schemeClr val="dk1"/>
                </a:solidFill>
              </a:rPr>
              <a:t>, </a:t>
            </a:r>
            <a:r>
              <a:rPr b="1" lang="en">
                <a:solidFill>
                  <a:schemeClr val="dk1"/>
                </a:solidFill>
              </a:rPr>
              <a:t>Shape Score</a:t>
            </a:r>
            <a:r>
              <a:rPr lang="en">
                <a:solidFill>
                  <a:schemeClr val="dk1"/>
                </a:solidFill>
              </a:rPr>
              <a:t>, and </a:t>
            </a:r>
            <a:r>
              <a:rPr b="1" lang="en">
                <a:solidFill>
                  <a:schemeClr val="dk1"/>
                </a:solidFill>
              </a:rPr>
              <a:t>TSH Levels</a:t>
            </a:r>
            <a:r>
              <a:rPr lang="en">
                <a:solidFill>
                  <a:schemeClr val="dk1"/>
                </a:solidFill>
              </a:rPr>
              <a:t>, </a:t>
            </a:r>
            <a:r>
              <a:rPr b="1" lang="en">
                <a:solidFill>
                  <a:schemeClr val="dk1"/>
                </a:solidFill>
              </a:rPr>
              <a:t>none of them achieved statistical significance</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comparison table at the bottom confirms this lack of improvement. The </a:t>
            </a:r>
            <a:r>
              <a:rPr b="1" lang="en">
                <a:solidFill>
                  <a:schemeClr val="dk1"/>
                </a:solidFill>
              </a:rPr>
              <a:t>AIC values are virtually identical</a:t>
            </a:r>
            <a:r>
              <a:rPr lang="en">
                <a:solidFill>
                  <a:schemeClr val="dk1"/>
                </a:solidFill>
              </a:rPr>
              <a:t> between the Demographics-only model and this Clinical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Most critically, the </a:t>
            </a:r>
            <a:r>
              <a:rPr b="1" lang="en">
                <a:solidFill>
                  <a:schemeClr val="dk1"/>
                </a:solidFill>
              </a:rPr>
              <a:t>Random Effects Variance did not drop</a:t>
            </a:r>
            <a:r>
              <a:rPr lang="en">
                <a:solidFill>
                  <a:schemeClr val="dk1"/>
                </a:solidFill>
              </a:rPr>
              <a:t>; it remained at approximately 86.6. This indicates that these clinical features failed to explain the between-patient variation any better than demographics did. The high ICC of 0.963 persists, suggesting that the risk profile is still almost entirely determined by unmeasured latent factors specific to each patient, rather than these clinical markers.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ccb0dd5d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accb0dd5d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ab7453484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ab7453484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ZZZ: </a:t>
            </a:r>
            <a:r>
              <a:rPr lang="en">
                <a:solidFill>
                  <a:schemeClr val="dk1"/>
                </a:solidFill>
              </a:rPr>
              <a:t>Finally, looking at the diagnostics for Model 2, the issue persists.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Q-Q plot (left) remains </a:t>
            </a:r>
            <a:r>
              <a:rPr b="1" lang="en">
                <a:solidFill>
                  <a:schemeClr val="dk1"/>
                </a:solidFill>
              </a:rPr>
              <a:t>bimodal</a:t>
            </a:r>
            <a:r>
              <a:rPr lang="en">
                <a:solidFill>
                  <a:schemeClr val="dk1"/>
                </a:solidFill>
              </a:rPr>
              <a:t>, confirming that even with clinical variables, the random effects do not follow a normal distribution. While the residuals (right) show a good mathematical fit, the violation of the normality assumption—combined with the static nature of the outcome—leads us to conclude that a </a:t>
            </a:r>
            <a:r>
              <a:rPr b="1" lang="en">
                <a:solidFill>
                  <a:schemeClr val="dk1"/>
                </a:solidFill>
              </a:rPr>
              <a:t>GLM (standard Logistic Regression)</a:t>
            </a:r>
            <a:r>
              <a:rPr lang="en">
                <a:solidFill>
                  <a:schemeClr val="dk1"/>
                </a:solidFill>
              </a:rPr>
              <a:t> would be a more appropriate and robust approach than GLMM for this specific dataset."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accb0dd5d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accb0dd5d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aba92e124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aba92e124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ccb0dd5d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accb0dd5d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YL</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aba92e124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aba92e124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900">
                <a:solidFill>
                  <a:schemeClr val="dk1"/>
                </a:solidFill>
              </a:rPr>
              <a:t>YL</a:t>
            </a:r>
            <a:endParaRPr sz="900">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ad133b778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ad133b778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YL</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ad133b778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ad133b778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YL</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aa22fb0e28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aa22fb0e28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acec6efd64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acec6efd64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YL</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aa22fb0e2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aa22fb0e2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YL</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aa22fb0e2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aa22fb0e2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YL</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aa7d07c0c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aa7d07c0c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kaggle.com/datasets/datasetengineer/multi-visit-thyroid-cancer-monitoring-dataset-shd?resource=downloa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3.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image" Target="../media/image1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2.png"/><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doi.org/10.1155/2013/965212" TargetMode="External"/><Relationship Id="rId4" Type="http://schemas.openxmlformats.org/officeDocument/2006/relationships/hyperlink" Target="https://doi.org/10.20452/pamw.2132" TargetMode="External"/><Relationship Id="rId9" Type="http://schemas.openxmlformats.org/officeDocument/2006/relationships/hyperlink" Target="https://doi.org/10.1016/j.eprac.2020.10.017" TargetMode="External"/><Relationship Id="rId5" Type="http://schemas.openxmlformats.org/officeDocument/2006/relationships/hyperlink" Target="https://doi.org/10.3389/fonc.2022.938292" TargetMode="External"/><Relationship Id="rId6" Type="http://schemas.openxmlformats.org/officeDocument/2006/relationships/hyperlink" Target="https://doi.org/10.1210/jc.2006-1772" TargetMode="External"/><Relationship Id="rId7" Type="http://schemas.openxmlformats.org/officeDocument/2006/relationships/hyperlink" Target="https://doi.org/10.1038/srep35632" TargetMode="External"/><Relationship Id="rId8" Type="http://schemas.openxmlformats.org/officeDocument/2006/relationships/hyperlink" Target="https://doi.org/10.3390/ijms18040805"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0150" y="492550"/>
            <a:ext cx="8183700" cy="147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Self-Assessment vs. Clinical-Assessment Models for Thyroid Cancer</a:t>
            </a:r>
            <a:endParaRPr/>
          </a:p>
        </p:txBody>
      </p:sp>
      <p:sp>
        <p:nvSpPr>
          <p:cNvPr id="59" name="Google Shape;59;p13"/>
          <p:cNvSpPr txBox="1"/>
          <p:nvPr>
            <p:ph idx="1" type="subTitle"/>
          </p:nvPr>
        </p:nvSpPr>
        <p:spPr>
          <a:xfrm>
            <a:off x="422975" y="1966150"/>
            <a:ext cx="8183700" cy="86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Dan Huang, Yuchen Li, Zhenzhong Zhang, &amp; Evan Rhodes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Background &amp; Motivations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Disclaimer</a:t>
            </a:r>
            <a:endParaRPr/>
          </a:p>
        </p:txBody>
      </p:sp>
      <p:sp>
        <p:nvSpPr>
          <p:cNvPr id="70" name="Google Shape;70;p15"/>
          <p:cNvSpPr txBox="1"/>
          <p:nvPr>
            <p:ph idx="1" type="body"/>
          </p:nvPr>
        </p:nvSpPr>
        <p:spPr>
          <a:xfrm>
            <a:off x="311700" y="1152475"/>
            <a:ext cx="8520600" cy="10419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1200"/>
              </a:spcAft>
              <a:buNone/>
            </a:pPr>
            <a:r>
              <a:rPr lang="en"/>
              <a:t>We have made the classic mistake that was cautioned at the start of the semester; once we were deep into our analyses and reporting work, we realized that this is a case of </a:t>
            </a:r>
            <a:r>
              <a:rPr i="1" lang="en"/>
              <a:t>clustered data over multiple visits</a:t>
            </a:r>
            <a:r>
              <a:rPr lang="en"/>
              <a:t>, rather than </a:t>
            </a:r>
            <a:r>
              <a:rPr i="1" lang="en"/>
              <a:t>longitudinal data</a:t>
            </a:r>
            <a:endParaRPr/>
          </a:p>
        </p:txBody>
      </p:sp>
      <p:sp>
        <p:nvSpPr>
          <p:cNvPr id="71" name="Google Shape;71;p15"/>
          <p:cNvSpPr txBox="1"/>
          <p:nvPr>
            <p:ph type="title"/>
          </p:nvPr>
        </p:nvSpPr>
        <p:spPr>
          <a:xfrm>
            <a:off x="311700" y="226005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a:t>
            </a:r>
            <a:endParaRPr/>
          </a:p>
        </p:txBody>
      </p:sp>
      <p:sp>
        <p:nvSpPr>
          <p:cNvPr id="72" name="Google Shape;72;p15"/>
          <p:cNvSpPr txBox="1"/>
          <p:nvPr>
            <p:ph idx="1" type="body"/>
          </p:nvPr>
        </p:nvSpPr>
        <p:spPr>
          <a:xfrm>
            <a:off x="311700" y="2883450"/>
            <a:ext cx="8520600" cy="204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Show how GEE and GLMM fails in this context</a:t>
            </a:r>
            <a:br>
              <a:rPr lang="en"/>
            </a:br>
            <a:endParaRPr/>
          </a:p>
          <a:p>
            <a:pPr indent="-342900" lvl="0" marL="457200" rtl="0" algn="l">
              <a:spcBef>
                <a:spcPts val="0"/>
              </a:spcBef>
              <a:spcAft>
                <a:spcPts val="0"/>
              </a:spcAft>
              <a:buSzPts val="1800"/>
              <a:buAutoNum type="arabicPeriod"/>
            </a:pPr>
            <a:r>
              <a:rPr lang="en"/>
              <a:t>Investigate original thoughts in GLM</a:t>
            </a:r>
            <a:br>
              <a:rPr lang="en"/>
            </a:br>
            <a:endParaRPr/>
          </a:p>
          <a:p>
            <a:pPr indent="-342900" lvl="0" marL="457200" rtl="0" algn="l">
              <a:spcBef>
                <a:spcPts val="0"/>
              </a:spcBef>
              <a:spcAft>
                <a:spcPts val="0"/>
              </a:spcAft>
              <a:buSzPts val="1800"/>
              <a:buAutoNum type="arabicPeriod"/>
            </a:pPr>
            <a:r>
              <a:rPr lang="en"/>
              <a:t>Attempt to refine model with repeated visits under GLMM; compare to GLM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Thyroid Cancer</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Increasing prevalence and mortality in recent decades due to improved medical technology and suspected environmental/lifestyle factors</a:t>
            </a:r>
            <a:r>
              <a:rPr baseline="30000" lang="en"/>
              <a:t> 1</a:t>
            </a:r>
            <a:br>
              <a:rPr lang="en"/>
            </a:br>
            <a:endParaRPr/>
          </a:p>
          <a:p>
            <a:pPr indent="-342900" lvl="0" marL="457200" rtl="0" algn="l">
              <a:spcBef>
                <a:spcPts val="0"/>
              </a:spcBef>
              <a:spcAft>
                <a:spcPts val="0"/>
              </a:spcAft>
              <a:buSzPts val="1800"/>
              <a:buChar char="-"/>
            </a:pPr>
            <a:r>
              <a:rPr lang="en"/>
              <a:t>Nodules grow in neck region and are classified as benign (no major intervention typically) or malignant (cancerous, requires treatment)</a:t>
            </a:r>
            <a:br>
              <a:rPr lang="en"/>
            </a:br>
            <a:endParaRPr/>
          </a:p>
          <a:p>
            <a:pPr indent="-342900" lvl="0" marL="457200" rtl="0" algn="l">
              <a:spcBef>
                <a:spcPts val="0"/>
              </a:spcBef>
              <a:spcAft>
                <a:spcPts val="0"/>
              </a:spcAft>
              <a:buSzPts val="1800"/>
              <a:buChar char="-"/>
            </a:pPr>
            <a:r>
              <a:rPr lang="en"/>
              <a:t>If tumors suspected after physical examination, </a:t>
            </a:r>
            <a:r>
              <a:rPr lang="en"/>
              <a:t>diagnostic</a:t>
            </a:r>
            <a:r>
              <a:rPr lang="en"/>
              <a:t> procedures such as ultrasound, fine-needle aspiration, electrography, and common blood tests likely to follow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Potential Risk Factors: 3 Categories</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Demographics / self-report aspects: Age, gender, family history, smoking history, height, weight, etc.</a:t>
            </a:r>
            <a:br>
              <a:rPr lang="en"/>
            </a:br>
            <a:endParaRPr/>
          </a:p>
          <a:p>
            <a:pPr indent="-342900" lvl="0" marL="457200" rtl="0" algn="l">
              <a:spcBef>
                <a:spcPts val="0"/>
              </a:spcBef>
              <a:spcAft>
                <a:spcPts val="0"/>
              </a:spcAft>
              <a:buSzPts val="1800"/>
              <a:buAutoNum type="arabicPeriod"/>
            </a:pPr>
            <a:r>
              <a:rPr lang="en"/>
              <a:t>Diagnostic scans / clinical aspects: Scan texture entropy, nodule size &amp; shape, thyroglobulin levels, presence of calcification</a:t>
            </a:r>
            <a:br>
              <a:rPr lang="en"/>
            </a:br>
            <a:endParaRPr/>
          </a:p>
          <a:p>
            <a:pPr indent="-342900" lvl="0" marL="457200" rtl="0" algn="l">
              <a:spcBef>
                <a:spcPts val="0"/>
              </a:spcBef>
              <a:spcAft>
                <a:spcPts val="0"/>
              </a:spcAft>
              <a:buSzPts val="1800"/>
              <a:buAutoNum type="arabicPeriod"/>
            </a:pPr>
            <a:r>
              <a:rPr lang="en"/>
              <a:t>Wearable measurements / patient-accessible aspects: Heart rate, daily steps, daily sleep, estimated stress levels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Risk Factor Categories: Levels of Access</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Demographics / self-report aspects: Easily obtained or known, requires little effort from the patient</a:t>
            </a:r>
            <a:br>
              <a:rPr lang="en"/>
            </a:br>
            <a:endParaRPr/>
          </a:p>
          <a:p>
            <a:pPr indent="-342900" lvl="0" marL="457200" rtl="0" algn="l">
              <a:spcBef>
                <a:spcPts val="0"/>
              </a:spcBef>
              <a:spcAft>
                <a:spcPts val="0"/>
              </a:spcAft>
              <a:buSzPts val="1800"/>
              <a:buAutoNum type="arabicPeriod"/>
            </a:pPr>
            <a:r>
              <a:rPr lang="en"/>
              <a:t>Diagnostic scans / clinical aspects: Heavy patient burden, requires clinical visits &amp; multiple tests</a:t>
            </a:r>
            <a:br>
              <a:rPr lang="en"/>
            </a:br>
            <a:endParaRPr/>
          </a:p>
          <a:p>
            <a:pPr indent="-342900" lvl="0" marL="457200" rtl="0" algn="l">
              <a:spcBef>
                <a:spcPts val="0"/>
              </a:spcBef>
              <a:spcAft>
                <a:spcPts val="0"/>
              </a:spcAft>
              <a:buSzPts val="1800"/>
              <a:buAutoNum type="arabicPeriod"/>
            </a:pPr>
            <a:r>
              <a:rPr lang="en"/>
              <a:t>Wearable measurements / patient-accessible aspects: Moderate prevalence with growing popularity in smart technology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Ideal Model: Features from Each Source</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Diagnostic scans can provide key information that have been found to increase malignancy risk</a:t>
            </a:r>
            <a:r>
              <a:rPr baseline="30000" lang="en"/>
              <a:t> 2</a:t>
            </a:r>
            <a:br>
              <a:rPr lang="en"/>
            </a:br>
            <a:endParaRPr/>
          </a:p>
          <a:p>
            <a:pPr indent="-342900" lvl="0" marL="457200" rtl="0" algn="l">
              <a:spcBef>
                <a:spcPts val="0"/>
              </a:spcBef>
              <a:spcAft>
                <a:spcPts val="0"/>
              </a:spcAft>
              <a:buSzPts val="1800"/>
              <a:buChar char="-"/>
            </a:pPr>
            <a:r>
              <a:rPr lang="en"/>
              <a:t>However, though beneficial, diagnostic scans are not fully reliable in differentiating malignant from benign nodules</a:t>
            </a:r>
            <a:r>
              <a:rPr baseline="30000" lang="en"/>
              <a:t> 2</a:t>
            </a:r>
            <a:r>
              <a:rPr lang="en"/>
              <a:t> </a:t>
            </a:r>
            <a:br>
              <a:rPr lang="en"/>
            </a:br>
            <a:endParaRPr/>
          </a:p>
          <a:p>
            <a:pPr indent="-342900" lvl="0" marL="457200" rtl="0" algn="l">
              <a:spcBef>
                <a:spcPts val="0"/>
              </a:spcBef>
              <a:spcAft>
                <a:spcPts val="0"/>
              </a:spcAft>
              <a:buSzPts val="1800"/>
              <a:buChar char="-"/>
            </a:pPr>
            <a:r>
              <a:rPr lang="en"/>
              <a:t>Previous </a:t>
            </a:r>
            <a:r>
              <a:rPr lang="en"/>
              <a:t>studies</a:t>
            </a:r>
            <a:r>
              <a:rPr lang="en"/>
              <a:t> have found major disparities across demographic characteristics in risk of malignancy, particularly in gender </a:t>
            </a:r>
            <a:r>
              <a:rPr baseline="30000" lang="en"/>
              <a:t>3</a:t>
            </a:r>
            <a:br>
              <a:rPr lang="en"/>
            </a:br>
            <a:endParaRPr/>
          </a:p>
          <a:p>
            <a:pPr indent="-342900" lvl="0" marL="457200" rtl="0" algn="l">
              <a:spcBef>
                <a:spcPts val="0"/>
              </a:spcBef>
              <a:spcAft>
                <a:spcPts val="0"/>
              </a:spcAft>
              <a:buSzPts val="1800"/>
              <a:buChar char="-"/>
            </a:pPr>
            <a:r>
              <a:rPr lang="en"/>
              <a:t>Hence, in this project we investigate how patients’ characteristics are associated with thyroid cancer outcomes.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102" name="Google Shape;102;p20"/>
          <p:cNvSpPr txBox="1"/>
          <p:nvPr>
            <p:ph idx="1" type="body"/>
          </p:nvPr>
        </p:nvSpPr>
        <p:spPr>
          <a:xfrm>
            <a:off x="311700" y="1152475"/>
            <a:ext cx="8520600" cy="3631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practice, patients would want the best care possible for their situation and clinicians would want the most effective detection and treatment methods; </a:t>
            </a:r>
            <a:r>
              <a:rPr i="1" lang="en"/>
              <a:t>the best model would include aspects from all three feature sources</a:t>
            </a:r>
            <a:br>
              <a:rPr i="1" lang="en"/>
            </a:br>
            <a:endParaRPr i="1"/>
          </a:p>
          <a:p>
            <a:pPr indent="-342900" lvl="0" marL="457200" rtl="0" algn="l">
              <a:spcBef>
                <a:spcPts val="0"/>
              </a:spcBef>
              <a:spcAft>
                <a:spcPts val="0"/>
              </a:spcAft>
              <a:buSzPts val="1800"/>
              <a:buChar char="-"/>
            </a:pPr>
            <a:r>
              <a:rPr lang="en"/>
              <a:t>However, some patients may not have reliable or quick access to clinical testing, left with only the features they may be aware of from self-assess and wearable categories</a:t>
            </a:r>
            <a:br>
              <a:rPr lang="en"/>
            </a:br>
            <a:endParaRPr/>
          </a:p>
          <a:p>
            <a:pPr indent="-342900" lvl="0" marL="457200" rtl="0" algn="l">
              <a:spcBef>
                <a:spcPts val="0"/>
              </a:spcBef>
              <a:spcAft>
                <a:spcPts val="0"/>
              </a:spcAft>
              <a:buSzPts val="1800"/>
              <a:buChar char="-"/>
            </a:pPr>
            <a:r>
              <a:rPr lang="en"/>
              <a:t>An early prediction model for public use utilizing only patient-known features may help reduce stress leading into clinical visits, allowing patients to have a somewhat better sense of what may be coming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Study Question</a:t>
            </a:r>
            <a:endParaRPr/>
          </a:p>
        </p:txBody>
      </p:sp>
      <p:sp>
        <p:nvSpPr>
          <p:cNvPr id="108" name="Google Shape;108;p21"/>
          <p:cNvSpPr txBox="1"/>
          <p:nvPr>
            <p:ph idx="1" type="body"/>
          </p:nvPr>
        </p:nvSpPr>
        <p:spPr>
          <a:xfrm>
            <a:off x="311700" y="1936050"/>
            <a:ext cx="8520600" cy="18147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2300"/>
              <a:t>Can a model using only patient-known features (“self-assessment”) perform consistently with a model using only clinically measured features (“clinical-assessment”), in terms of predicting the probability of a malignant nodule? </a:t>
            </a:r>
            <a:endParaRPr sz="2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Description</a:t>
            </a:r>
            <a:endParaRPr/>
          </a:p>
        </p:txBody>
      </p:sp>
      <p:sp>
        <p:nvSpPr>
          <p:cNvPr id="114" name="Google Shape;114;p22"/>
          <p:cNvSpPr txBox="1"/>
          <p:nvPr>
            <p:ph idx="1" type="body"/>
          </p:nvPr>
        </p:nvSpPr>
        <p:spPr>
          <a:xfrm>
            <a:off x="311700" y="1068425"/>
            <a:ext cx="8520600" cy="3601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u="sng">
                <a:solidFill>
                  <a:schemeClr val="hlink"/>
                </a:solidFill>
                <a:hlinkClick r:id="rId3"/>
              </a:rPr>
              <a:t>Kaggle “Multi Visit Thyroid Cancer Monitoring Dataset - SHD”</a:t>
            </a:r>
            <a:br>
              <a:rPr lang="en"/>
            </a:br>
            <a:endParaRPr/>
          </a:p>
          <a:p>
            <a:pPr indent="-342900" lvl="0" marL="457200" rtl="0" algn="l">
              <a:spcBef>
                <a:spcPts val="0"/>
              </a:spcBef>
              <a:spcAft>
                <a:spcPts val="0"/>
              </a:spcAft>
              <a:buSzPts val="1800"/>
              <a:buChar char="-"/>
            </a:pPr>
            <a:r>
              <a:rPr lang="en"/>
              <a:t>2 - 5 visits per patient across 80,000 unique patients</a:t>
            </a:r>
            <a:br>
              <a:rPr lang="en"/>
            </a:br>
            <a:endParaRPr/>
          </a:p>
          <a:p>
            <a:pPr indent="-342900" lvl="0" marL="457200" rtl="0" algn="l">
              <a:spcBef>
                <a:spcPts val="0"/>
              </a:spcBef>
              <a:spcAft>
                <a:spcPts val="0"/>
              </a:spcAft>
              <a:buSzPts val="1800"/>
              <a:buChar char="-"/>
            </a:pPr>
            <a:r>
              <a:rPr lang="en"/>
              <a:t>Data collected from January 2015 - March 2025, aggregated from participating healthcare centers &amp; patient wearable device logs</a:t>
            </a:r>
            <a:br>
              <a:rPr lang="en"/>
            </a:br>
            <a:endParaRPr/>
          </a:p>
          <a:p>
            <a:pPr indent="-342900" lvl="0" marL="457200" rtl="0" algn="l">
              <a:spcBef>
                <a:spcPts val="0"/>
              </a:spcBef>
              <a:spcAft>
                <a:spcPts val="0"/>
              </a:spcAft>
              <a:buSzPts val="1800"/>
              <a:buChar char="-"/>
            </a:pPr>
            <a:r>
              <a:rPr lang="en"/>
              <a:t>No missing data; lack of documentation leaves caution in formal use, as we are unsure of any potential imputation or other missing data methods</a:t>
            </a:r>
            <a:br>
              <a:rPr lang="en"/>
            </a:br>
            <a:endParaRPr/>
          </a:p>
          <a:p>
            <a:pPr indent="-342900" lvl="0" marL="457200" rtl="0" algn="l">
              <a:spcBef>
                <a:spcPts val="0"/>
              </a:spcBef>
              <a:spcAft>
                <a:spcPts val="0"/>
              </a:spcAft>
              <a:buSzPts val="1800"/>
              <a:buChar char="-"/>
            </a:pPr>
            <a:r>
              <a:rPr lang="en"/>
              <a:t>Features binned into “self” or “clinical” assessment categories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Omit Cancer Subtypes</a:t>
            </a:r>
            <a:endParaRPr/>
          </a:p>
        </p:txBody>
      </p:sp>
      <p:sp>
        <p:nvSpPr>
          <p:cNvPr id="120" name="Google Shape;120;p23"/>
          <p:cNvSpPr txBox="1"/>
          <p:nvPr>
            <p:ph idx="1" type="body"/>
          </p:nvPr>
        </p:nvSpPr>
        <p:spPr>
          <a:xfrm>
            <a:off x="393900" y="10684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Thyroid cancer can be further categorized into papillary, follicular, medullary, or anaplastic subtypes, each with differing pathologies and prevalences</a:t>
            </a:r>
            <a:br>
              <a:rPr lang="en"/>
            </a:br>
            <a:endParaRPr/>
          </a:p>
          <a:p>
            <a:pPr indent="-342900" lvl="0" marL="457200" rtl="0" algn="l">
              <a:spcBef>
                <a:spcPts val="0"/>
              </a:spcBef>
              <a:spcAft>
                <a:spcPts val="0"/>
              </a:spcAft>
              <a:buSzPts val="1800"/>
              <a:buChar char="-"/>
            </a:pPr>
            <a:r>
              <a:rPr lang="en"/>
              <a:t>For the purposes of our study question, want to consider the overall presence of any cancer, regardless of subtype; for a patient, presence/absence of cancer is assumed to be more immediately relevant than the specific type of cancer</a:t>
            </a:r>
            <a:br>
              <a:rPr lang="en"/>
            </a:br>
            <a:endParaRPr/>
          </a:p>
          <a:p>
            <a:pPr indent="-342900" lvl="0" marL="457200" rtl="0" algn="l">
              <a:spcBef>
                <a:spcPts val="0"/>
              </a:spcBef>
              <a:spcAft>
                <a:spcPts val="0"/>
              </a:spcAft>
              <a:buSzPts val="1800"/>
              <a:buChar char="-"/>
            </a:pPr>
            <a:r>
              <a:rPr lang="en"/>
              <a:t>A subtype sensitivity analysis could be an interesting follow-up, but for this project we only investigated logistic models for binary malignancy status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Methods: Self-Assessment Model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Aim</a:t>
            </a:r>
            <a:endParaRPr/>
          </a:p>
        </p:txBody>
      </p:sp>
      <p:sp>
        <p:nvSpPr>
          <p:cNvPr id="131" name="Google Shape;131;p25"/>
          <p:cNvSpPr txBox="1"/>
          <p:nvPr>
            <p:ph idx="1" type="body"/>
          </p:nvPr>
        </p:nvSpPr>
        <p:spPr>
          <a:xfrm>
            <a:off x="311700" y="1068425"/>
            <a:ext cx="8520600" cy="38085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SzPts val="2300"/>
              <a:buChar char="●"/>
            </a:pPr>
            <a:r>
              <a:rPr lang="en" sz="2300"/>
              <a:t>How are demographic and self-assessment characteristics associated with the probability of "Malignant"? </a:t>
            </a:r>
            <a:endParaRPr sz="2300"/>
          </a:p>
          <a:p>
            <a:pPr indent="-374650" lvl="0" marL="457200" rtl="0" algn="l">
              <a:spcBef>
                <a:spcPts val="0"/>
              </a:spcBef>
              <a:spcAft>
                <a:spcPts val="0"/>
              </a:spcAft>
              <a:buSzPts val="2300"/>
              <a:buChar char="●"/>
            </a:pPr>
            <a:r>
              <a:rPr lang="en" sz="2300"/>
              <a:t>Outcome: </a:t>
            </a:r>
            <a:r>
              <a:rPr b="1" lang="en" sz="2300"/>
              <a:t>Diagnosis_Label</a:t>
            </a:r>
            <a:r>
              <a:rPr lang="en" sz="2300"/>
              <a:t> (0: Benign, 1: Malignant)</a:t>
            </a:r>
            <a:endParaRPr sz="2300"/>
          </a:p>
          <a:p>
            <a:pPr indent="-374650" lvl="0" marL="457200" rtl="0" algn="l">
              <a:spcBef>
                <a:spcPts val="0"/>
              </a:spcBef>
              <a:spcAft>
                <a:spcPts val="0"/>
              </a:spcAft>
              <a:buSzPts val="2300"/>
              <a:buChar char="●"/>
            </a:pPr>
            <a:r>
              <a:rPr lang="en" sz="2300"/>
              <a:t>Predictors</a:t>
            </a:r>
            <a:endParaRPr sz="2300"/>
          </a:p>
          <a:p>
            <a:pPr indent="-349250" lvl="1" marL="914400" rtl="0" algn="l">
              <a:spcBef>
                <a:spcPts val="0"/>
              </a:spcBef>
              <a:spcAft>
                <a:spcPts val="0"/>
              </a:spcAft>
              <a:buSzPts val="1900"/>
              <a:buChar char="○"/>
            </a:pPr>
            <a:r>
              <a:rPr lang="en" sz="1900"/>
              <a:t>Demographics: </a:t>
            </a:r>
            <a:r>
              <a:rPr b="1" lang="en" sz="1900"/>
              <a:t>Age, Gender, BMI, Family_History, Smoking_Status, Radiation_Exposure</a:t>
            </a:r>
            <a:endParaRPr b="1" sz="1900"/>
          </a:p>
          <a:p>
            <a:pPr indent="-349250" lvl="1" marL="914400" rtl="0" algn="l">
              <a:spcBef>
                <a:spcPts val="0"/>
              </a:spcBef>
              <a:spcAft>
                <a:spcPts val="0"/>
              </a:spcAft>
              <a:buSzPts val="1900"/>
              <a:buChar char="○"/>
            </a:pPr>
            <a:r>
              <a:rPr lang="en" sz="1900"/>
              <a:t>Time varying self-assessment: </a:t>
            </a:r>
            <a:r>
              <a:rPr b="1" lang="en" sz="1900"/>
              <a:t>Heart_Rate, Daily_Steps, Sleep_Patterns, Body_Temperature, Pulse_Oximetry, Stress_Level, Symptom_Onset_Duration, Medication_Adherence</a:t>
            </a:r>
            <a:endParaRPr b="1" sz="1900"/>
          </a:p>
          <a:p>
            <a:pPr indent="-349250" lvl="1" marL="914400" rtl="0" algn="l">
              <a:spcBef>
                <a:spcPts val="0"/>
              </a:spcBef>
              <a:spcAft>
                <a:spcPts val="0"/>
              </a:spcAft>
              <a:buSzPts val="1900"/>
              <a:buChar char="○"/>
            </a:pPr>
            <a:r>
              <a:rPr lang="en" sz="1900"/>
              <a:t>Time Effect: </a:t>
            </a:r>
            <a:r>
              <a:rPr b="1" lang="en" sz="1900"/>
              <a:t>Visit_Number </a:t>
            </a:r>
            <a:r>
              <a:rPr lang="en" sz="1900"/>
              <a:t>(as a numeric variable)</a:t>
            </a:r>
            <a:endParaRPr sz="1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 Model</a:t>
            </a:r>
            <a:endParaRPr/>
          </a:p>
        </p:txBody>
      </p:sp>
      <p:sp>
        <p:nvSpPr>
          <p:cNvPr id="137" name="Google Shape;13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en" sz="2300"/>
              <a:t>Diagnosis_Label ~ Age_c + Gender + BMI_c +</a:t>
            </a:r>
            <a:endParaRPr sz="2300"/>
          </a:p>
          <a:p>
            <a:pPr indent="457200" lvl="0" marL="0" rtl="0" algn="l">
              <a:spcBef>
                <a:spcPts val="1200"/>
              </a:spcBef>
              <a:spcAft>
                <a:spcPts val="0"/>
              </a:spcAft>
              <a:buNone/>
            </a:pPr>
            <a:r>
              <a:rPr lang="en" sz="2300"/>
              <a:t>    Family_History + Smoking_Status + Radiation_Exposure +</a:t>
            </a:r>
            <a:endParaRPr sz="2300"/>
          </a:p>
          <a:p>
            <a:pPr indent="457200" lvl="0" marL="0" rtl="0" algn="l">
              <a:spcBef>
                <a:spcPts val="1200"/>
              </a:spcBef>
              <a:spcAft>
                <a:spcPts val="0"/>
              </a:spcAft>
              <a:buNone/>
            </a:pPr>
            <a:r>
              <a:rPr lang="en" sz="2300"/>
              <a:t>    HR_c + Steps_c + Sleep_c + Temp_c + SpO2_c +</a:t>
            </a:r>
            <a:endParaRPr sz="2300"/>
          </a:p>
          <a:p>
            <a:pPr indent="457200" lvl="0" marL="0" rtl="0" algn="l">
              <a:spcBef>
                <a:spcPts val="1200"/>
              </a:spcBef>
              <a:spcAft>
                <a:spcPts val="0"/>
              </a:spcAft>
              <a:buNone/>
            </a:pPr>
            <a:r>
              <a:rPr lang="en" sz="2300"/>
              <a:t>    Stress_c + SymptomDur_c + Adherence_c +</a:t>
            </a:r>
            <a:endParaRPr sz="2300"/>
          </a:p>
          <a:p>
            <a:pPr indent="457200" lvl="0" marL="0" rtl="0" algn="l">
              <a:spcBef>
                <a:spcPts val="1200"/>
              </a:spcBef>
              <a:spcAft>
                <a:spcPts val="1200"/>
              </a:spcAft>
              <a:buNone/>
            </a:pPr>
            <a:r>
              <a:rPr lang="en" sz="2300"/>
              <a:t>    Visit_Number</a:t>
            </a:r>
            <a:endParaRPr sz="2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Analysis Plan - GLM &amp; GEE</a:t>
            </a:r>
            <a:endParaRPr/>
          </a:p>
        </p:txBody>
      </p:sp>
      <p:sp>
        <p:nvSpPr>
          <p:cNvPr id="143" name="Google Shape;143;p27"/>
          <p:cNvSpPr txBox="1"/>
          <p:nvPr>
            <p:ph idx="1" type="body"/>
          </p:nvPr>
        </p:nvSpPr>
        <p:spPr>
          <a:xfrm>
            <a:off x="311700" y="1152475"/>
            <a:ext cx="8520600" cy="3755700"/>
          </a:xfrm>
          <a:prstGeom prst="rect">
            <a:avLst/>
          </a:prstGeom>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SzPts val="2000"/>
              <a:buChar char="●"/>
            </a:pPr>
            <a:r>
              <a:rPr lang="en" sz="2000"/>
              <a:t>Setup</a:t>
            </a:r>
            <a:endParaRPr sz="2000"/>
          </a:p>
          <a:p>
            <a:pPr indent="-355600" lvl="1" marL="914400" rtl="0" algn="l">
              <a:lnSpc>
                <a:spcPct val="100000"/>
              </a:lnSpc>
              <a:spcBef>
                <a:spcPts val="0"/>
              </a:spcBef>
              <a:spcAft>
                <a:spcPts val="0"/>
              </a:spcAft>
              <a:buSzPts val="2000"/>
              <a:buChar char="○"/>
            </a:pPr>
            <a:r>
              <a:rPr lang="en" sz="2000"/>
              <a:t>Center and scale continuous variables</a:t>
            </a:r>
            <a:endParaRPr sz="2000"/>
          </a:p>
          <a:p>
            <a:pPr indent="-355600" lvl="1" marL="914400" rtl="0" algn="l">
              <a:lnSpc>
                <a:spcPct val="100000"/>
              </a:lnSpc>
              <a:spcBef>
                <a:spcPts val="0"/>
              </a:spcBef>
              <a:spcAft>
                <a:spcPts val="0"/>
              </a:spcAft>
              <a:buSzPts val="2000"/>
              <a:buChar char="○"/>
            </a:pPr>
            <a:r>
              <a:rPr lang="en" sz="2000"/>
              <a:t>Visit_Number treated as numbers</a:t>
            </a:r>
            <a:endParaRPr sz="2000"/>
          </a:p>
          <a:p>
            <a:pPr indent="-355600" lvl="1" marL="914400" rtl="0" algn="l">
              <a:lnSpc>
                <a:spcPct val="100000"/>
              </a:lnSpc>
              <a:spcBef>
                <a:spcPts val="0"/>
              </a:spcBef>
              <a:spcAft>
                <a:spcPts val="0"/>
              </a:spcAft>
              <a:buSzPts val="2000"/>
              <a:buChar char="○"/>
            </a:pPr>
            <a:r>
              <a:rPr lang="en" sz="2000"/>
              <a:t>Use Patient_ID as the grouping factor.</a:t>
            </a:r>
            <a:endParaRPr sz="2000"/>
          </a:p>
          <a:p>
            <a:pPr indent="-355600" lvl="0" marL="457200" rtl="0" algn="l">
              <a:lnSpc>
                <a:spcPct val="100000"/>
              </a:lnSpc>
              <a:spcBef>
                <a:spcPts val="0"/>
              </a:spcBef>
              <a:spcAft>
                <a:spcPts val="0"/>
              </a:spcAft>
              <a:buSzPts val="2000"/>
              <a:buChar char="●"/>
            </a:pPr>
            <a:r>
              <a:rPr lang="en" sz="2000"/>
              <a:t>GLM (Assume within-subject independence)</a:t>
            </a:r>
            <a:endParaRPr sz="2000"/>
          </a:p>
          <a:p>
            <a:pPr indent="-355600" lvl="1" marL="914400" rtl="0" algn="l">
              <a:lnSpc>
                <a:spcPct val="100000"/>
              </a:lnSpc>
              <a:spcBef>
                <a:spcPts val="0"/>
              </a:spcBef>
              <a:spcAft>
                <a:spcPts val="0"/>
              </a:spcAft>
              <a:buSzPts val="2000"/>
              <a:buChar char="○"/>
            </a:pPr>
            <a:r>
              <a:rPr lang="en" sz="2000"/>
              <a:t>Fit logistic GLM &amp; report ORs and 95% CIs</a:t>
            </a:r>
            <a:endParaRPr sz="2000"/>
          </a:p>
          <a:p>
            <a:pPr indent="-355600" lvl="1" marL="914400" rtl="0" algn="l">
              <a:lnSpc>
                <a:spcPct val="100000"/>
              </a:lnSpc>
              <a:spcBef>
                <a:spcPts val="0"/>
              </a:spcBef>
              <a:spcAft>
                <a:spcPts val="0"/>
              </a:spcAft>
              <a:buSzPts val="2000"/>
              <a:buChar char="○"/>
            </a:pPr>
            <a:r>
              <a:rPr lang="en" sz="2000"/>
              <a:t>Check assumption: Deviance residuals vs fitted</a:t>
            </a:r>
            <a:endParaRPr sz="2000"/>
          </a:p>
          <a:p>
            <a:pPr indent="-355600" lvl="0" marL="457200" rtl="0" algn="l">
              <a:lnSpc>
                <a:spcPct val="100000"/>
              </a:lnSpc>
              <a:spcBef>
                <a:spcPts val="0"/>
              </a:spcBef>
              <a:spcAft>
                <a:spcPts val="0"/>
              </a:spcAft>
              <a:buSzPts val="2000"/>
              <a:buChar char="●"/>
            </a:pPr>
            <a:r>
              <a:rPr lang="en" sz="2000"/>
              <a:t>GEE</a:t>
            </a:r>
            <a:endParaRPr sz="2000"/>
          </a:p>
          <a:p>
            <a:pPr indent="-355600" lvl="1" marL="914400" rtl="0" algn="l">
              <a:lnSpc>
                <a:spcPct val="100000"/>
              </a:lnSpc>
              <a:spcBef>
                <a:spcPts val="0"/>
              </a:spcBef>
              <a:spcAft>
                <a:spcPts val="0"/>
              </a:spcAft>
              <a:buSzPts val="2000"/>
              <a:buChar char="○"/>
            </a:pPr>
            <a:r>
              <a:rPr lang="en" sz="2000"/>
              <a:t>Exchangeable working correlation &amp; ORs and robust SEs</a:t>
            </a:r>
            <a:endParaRPr sz="2000"/>
          </a:p>
          <a:p>
            <a:pPr indent="-355600" lvl="1" marL="914400" rtl="0" algn="l">
              <a:lnSpc>
                <a:spcPct val="100000"/>
              </a:lnSpc>
              <a:spcBef>
                <a:spcPts val="0"/>
              </a:spcBef>
              <a:spcAft>
                <a:spcPts val="0"/>
              </a:spcAft>
              <a:buSzPts val="2000"/>
              <a:buChar char="○"/>
            </a:pPr>
            <a:r>
              <a:rPr lang="en" sz="2000"/>
              <a:t>Report working correlation (α)</a:t>
            </a:r>
            <a:endParaRPr sz="2000"/>
          </a:p>
          <a:p>
            <a:pPr indent="-355600" lvl="1" marL="914400" rtl="0" algn="l">
              <a:lnSpc>
                <a:spcPct val="100000"/>
              </a:lnSpc>
              <a:spcBef>
                <a:spcPts val="0"/>
              </a:spcBef>
              <a:spcAft>
                <a:spcPts val="0"/>
              </a:spcAft>
              <a:buSzPts val="2000"/>
              <a:buChar char="○"/>
            </a:pPr>
            <a:r>
              <a:rPr lang="en" sz="2000"/>
              <a:t>Sensitivity: Independence GEE + AR-1 comparison with Exchangeable</a:t>
            </a:r>
            <a:endParaRPr sz="2000"/>
          </a:p>
          <a:p>
            <a:pPr indent="-355600" lvl="1" marL="914400" rtl="0" algn="l">
              <a:lnSpc>
                <a:spcPct val="100000"/>
              </a:lnSpc>
              <a:spcBef>
                <a:spcPts val="0"/>
              </a:spcBef>
              <a:spcAft>
                <a:spcPts val="0"/>
              </a:spcAft>
              <a:buSzPts val="2000"/>
              <a:buChar char="○"/>
            </a:pPr>
            <a:r>
              <a:rPr lang="en" sz="2000"/>
              <a:t>Check assumption: Pearson residuals vs fitted</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Analysis Plan - GLMM</a:t>
            </a:r>
            <a:endParaRPr/>
          </a:p>
        </p:txBody>
      </p:sp>
      <p:sp>
        <p:nvSpPr>
          <p:cNvPr id="149" name="Google Shape;149;p28"/>
          <p:cNvSpPr txBox="1"/>
          <p:nvPr>
            <p:ph idx="1" type="body"/>
          </p:nvPr>
        </p:nvSpPr>
        <p:spPr>
          <a:xfrm>
            <a:off x="311700" y="1152475"/>
            <a:ext cx="8520600" cy="3450900"/>
          </a:xfrm>
          <a:prstGeom prst="rect">
            <a:avLst/>
          </a:prstGeom>
        </p:spPr>
        <p:txBody>
          <a:bodyPr anchorCtr="0" anchor="t" bIns="91425" lIns="91425" spcFirstLastPara="1" rIns="91425" wrap="square" tIns="91425">
            <a:normAutofit fontScale="70000" lnSpcReduction="20000"/>
          </a:bodyPr>
          <a:lstStyle/>
          <a:p>
            <a:pPr indent="-339725" lvl="0" marL="457200" rtl="0" algn="l">
              <a:spcBef>
                <a:spcPts val="1200"/>
              </a:spcBef>
              <a:spcAft>
                <a:spcPts val="0"/>
              </a:spcAft>
              <a:buSzPct val="100000"/>
              <a:buChar char="●"/>
            </a:pPr>
            <a:r>
              <a:rPr lang="en" sz="2500"/>
              <a:t>Model Specification</a:t>
            </a:r>
            <a:endParaRPr sz="2500"/>
          </a:p>
          <a:p>
            <a:pPr indent="-339725" lvl="1" marL="914400" rtl="0" algn="l">
              <a:spcBef>
                <a:spcPts val="0"/>
              </a:spcBef>
              <a:spcAft>
                <a:spcPts val="0"/>
              </a:spcAft>
              <a:buSzPct val="100000"/>
              <a:buChar char="○"/>
            </a:pPr>
            <a:r>
              <a:rPr lang="en" sz="2500"/>
              <a:t>Fit Random Intercept Logistic GLMM:</a:t>
            </a:r>
            <a:endParaRPr sz="2500"/>
          </a:p>
          <a:p>
            <a:pPr indent="-339725" lvl="2" marL="1371600" rtl="0" algn="l">
              <a:spcBef>
                <a:spcPts val="0"/>
              </a:spcBef>
              <a:spcAft>
                <a:spcPts val="0"/>
              </a:spcAft>
              <a:buSzPct val="100000"/>
              <a:buChar char="■"/>
            </a:pPr>
            <a:r>
              <a:rPr lang="en" sz="2500"/>
              <a:t>Formula: Diagnosis ~ Visit_Number + Covariates + (1 | Patient_ID)</a:t>
            </a:r>
            <a:endParaRPr sz="2500"/>
          </a:p>
          <a:p>
            <a:pPr indent="-339725" lvl="2" marL="1371600" rtl="0" algn="l">
              <a:spcBef>
                <a:spcPts val="0"/>
              </a:spcBef>
              <a:spcAft>
                <a:spcPts val="0"/>
              </a:spcAft>
              <a:buSzPct val="100000"/>
              <a:buChar char="■"/>
            </a:pPr>
            <a:r>
              <a:rPr lang="en" sz="2500"/>
              <a:t>Method for simulation: maximum likelihood (Adaptive Gauss-Hermite Quadrature, nAGQ = 0)</a:t>
            </a:r>
            <a:endParaRPr sz="2500"/>
          </a:p>
          <a:p>
            <a:pPr indent="-275272" lvl="3" marL="1828800" rtl="0" algn="l">
              <a:spcBef>
                <a:spcPts val="0"/>
              </a:spcBef>
              <a:spcAft>
                <a:spcPts val="0"/>
              </a:spcAft>
              <a:buClr>
                <a:srgbClr val="666666"/>
              </a:buClr>
              <a:buSzPct val="42000"/>
              <a:buFont typeface="Roboto"/>
              <a:buChar char="●"/>
            </a:pPr>
            <a:r>
              <a:rPr lang="en" sz="2500"/>
              <a:t>Note: While this method may yield inaccurate estimations, we utilize nAGQ = 0 due to the large dataset size.</a:t>
            </a:r>
            <a:endParaRPr sz="2500"/>
          </a:p>
          <a:p>
            <a:pPr indent="-339725" lvl="0" marL="457200" rtl="0" algn="l">
              <a:spcBef>
                <a:spcPts val="0"/>
              </a:spcBef>
              <a:spcAft>
                <a:spcPts val="0"/>
              </a:spcAft>
              <a:buSzPct val="100000"/>
              <a:buChar char="●"/>
            </a:pPr>
            <a:r>
              <a:rPr lang="en" sz="2500"/>
              <a:t>Reporting Metrics</a:t>
            </a:r>
            <a:endParaRPr sz="2500"/>
          </a:p>
          <a:p>
            <a:pPr indent="-339725" lvl="1" marL="914400" rtl="0" algn="l">
              <a:spcBef>
                <a:spcPts val="0"/>
              </a:spcBef>
              <a:spcAft>
                <a:spcPts val="0"/>
              </a:spcAft>
              <a:buSzPct val="100000"/>
              <a:buChar char="○"/>
            </a:pPr>
            <a:r>
              <a:rPr lang="en" sz="2500"/>
              <a:t>Subject-Specific Odds Ratios: Conditional on random effects.</a:t>
            </a:r>
            <a:endParaRPr sz="2500"/>
          </a:p>
          <a:p>
            <a:pPr indent="-339725" lvl="1" marL="914400" rtl="0" algn="l">
              <a:spcBef>
                <a:spcPts val="0"/>
              </a:spcBef>
              <a:spcAft>
                <a:spcPts val="0"/>
              </a:spcAft>
              <a:buSzPct val="100000"/>
              <a:buChar char="○"/>
            </a:pPr>
            <a:r>
              <a:rPr lang="en" sz="2500"/>
              <a:t>Random Effect Variance: Quantify between-subject variability, ICC to check random effect </a:t>
            </a:r>
            <a:r>
              <a:rPr lang="en" sz="2500"/>
              <a:t>variance </a:t>
            </a:r>
            <a:r>
              <a:rPr lang="en" sz="2500"/>
              <a:t>and </a:t>
            </a:r>
            <a:r>
              <a:rPr lang="en" sz="2500"/>
              <a:t>overall</a:t>
            </a:r>
            <a:r>
              <a:rPr lang="en" sz="2500"/>
              <a:t> variance. </a:t>
            </a:r>
            <a:endParaRPr sz="2500"/>
          </a:p>
          <a:p>
            <a:pPr indent="-339725" lvl="1" marL="914400" rtl="0" algn="l">
              <a:spcBef>
                <a:spcPts val="0"/>
              </a:spcBef>
              <a:spcAft>
                <a:spcPts val="0"/>
              </a:spcAft>
              <a:buSzPct val="100000"/>
              <a:buChar char="○"/>
            </a:pPr>
            <a:r>
              <a:rPr lang="en" sz="2500"/>
              <a:t>Assumptions: Pearson Residuals, Q-Q Plot</a:t>
            </a:r>
            <a:endParaRPr sz="2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75300" y="1714500"/>
            <a:ext cx="83934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Methods: Clinical-Assessment Model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Selection: Diagnostic Scans</a:t>
            </a:r>
            <a:endParaRPr/>
          </a:p>
        </p:txBody>
      </p:sp>
      <p:sp>
        <p:nvSpPr>
          <p:cNvPr id="160" name="Google Shape;160;p30"/>
          <p:cNvSpPr txBox="1"/>
          <p:nvPr>
            <p:ph idx="1" type="body"/>
          </p:nvPr>
        </p:nvSpPr>
        <p:spPr>
          <a:xfrm>
            <a:off x="311700" y="1152475"/>
            <a:ext cx="8520600" cy="3737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From scan images, facets of elasticity, microcalcifications, and irregular margins can be indicative of increased malignancy risk</a:t>
            </a:r>
            <a:r>
              <a:rPr baseline="30000" lang="en"/>
              <a:t> 2</a:t>
            </a:r>
            <a:br>
              <a:rPr lang="en"/>
            </a:br>
            <a:endParaRPr/>
          </a:p>
          <a:p>
            <a:pPr indent="-342900" lvl="0" marL="457200" rtl="0" algn="l">
              <a:spcBef>
                <a:spcPts val="0"/>
              </a:spcBef>
              <a:spcAft>
                <a:spcPts val="0"/>
              </a:spcAft>
              <a:buSzPts val="1800"/>
              <a:buChar char="-"/>
            </a:pPr>
            <a:r>
              <a:rPr lang="en"/>
              <a:t>Tumor size and shape are established predictors of malignancy </a:t>
            </a:r>
            <a:r>
              <a:rPr baseline="30000" lang="en"/>
              <a:t>2, 3</a:t>
            </a:r>
            <a:br>
              <a:rPr lang="en"/>
            </a:br>
            <a:endParaRPr/>
          </a:p>
          <a:p>
            <a:pPr indent="-342900" lvl="0" marL="457200" rtl="0" algn="l">
              <a:spcBef>
                <a:spcPts val="0"/>
              </a:spcBef>
              <a:spcAft>
                <a:spcPts val="0"/>
              </a:spcAft>
              <a:buSzPts val="1800"/>
              <a:buChar char="-"/>
            </a:pPr>
            <a:r>
              <a:rPr lang="en"/>
              <a:t>Echogenicity, a measure of how well certain tissues can reflect waves from ultrasound imaging has been recommended as a diagnosis factor</a:t>
            </a:r>
            <a:r>
              <a:rPr baseline="30000" lang="en"/>
              <a:t> 5</a:t>
            </a:r>
            <a:br>
              <a:rPr lang="en"/>
            </a:br>
            <a:endParaRPr/>
          </a:p>
          <a:p>
            <a:pPr indent="-342900" lvl="0" marL="457200" rtl="0" algn="l">
              <a:spcBef>
                <a:spcPts val="0"/>
              </a:spcBef>
              <a:spcAft>
                <a:spcPts val="0"/>
              </a:spcAft>
              <a:buSzPts val="1800"/>
              <a:buChar char="-"/>
            </a:pPr>
            <a:r>
              <a:rPr lang="en"/>
              <a:t>Scan entropy is a statistical representation of intratumor heterogeneity that have been shown to be associated with gene-expression patterns; patterns used to help guide treatment decisions </a:t>
            </a:r>
            <a:r>
              <a:rPr baseline="30000" lang="en"/>
              <a:t>6</a:t>
            </a:r>
            <a:endParaRPr baseline="30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Selection: Blood Tests</a:t>
            </a:r>
            <a:endParaRPr/>
          </a:p>
        </p:txBody>
      </p:sp>
      <p:sp>
        <p:nvSpPr>
          <p:cNvPr id="166" name="Google Shape;166;p31"/>
          <p:cNvSpPr txBox="1"/>
          <p:nvPr>
            <p:ph idx="1" type="body"/>
          </p:nvPr>
        </p:nvSpPr>
        <p:spPr>
          <a:xfrm>
            <a:off x="311700" y="1152475"/>
            <a:ext cx="8520600" cy="3737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Measurements of thyroid-stimulating hormone (TSH), which has been presented in recent studies as providing additional information to predict malignancy, since it can promote carcinogenesis on thyroid tissue</a:t>
            </a:r>
            <a:r>
              <a:rPr baseline="30000" lang="en"/>
              <a:t> 4</a:t>
            </a:r>
            <a:br>
              <a:rPr lang="en"/>
            </a:br>
            <a:endParaRPr/>
          </a:p>
          <a:p>
            <a:pPr indent="-342900" lvl="0" marL="457200" rtl="0" algn="l">
              <a:spcBef>
                <a:spcPts val="0"/>
              </a:spcBef>
              <a:spcAft>
                <a:spcPts val="0"/>
              </a:spcAft>
              <a:buSzPts val="1800"/>
              <a:buChar char="-"/>
            </a:pPr>
            <a:r>
              <a:rPr lang="en"/>
              <a:t>Thyroid peroxidase antibodies (TPOAb) and thyroglobulin antibodies (TGAB) have also been noted to potentially assist in diagnosing malignant thyroid tumors </a:t>
            </a:r>
            <a:r>
              <a:rPr baseline="30000" lang="en"/>
              <a:t>7</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Pre-Processing</a:t>
            </a:r>
            <a:endParaRPr/>
          </a:p>
        </p:txBody>
      </p:sp>
      <p:sp>
        <p:nvSpPr>
          <p:cNvPr id="172" name="Google Shape;172;p32"/>
          <p:cNvSpPr txBox="1"/>
          <p:nvPr>
            <p:ph idx="1" type="body"/>
          </p:nvPr>
        </p:nvSpPr>
        <p:spPr>
          <a:xfrm>
            <a:off x="311700" y="1152475"/>
            <a:ext cx="8520600" cy="3643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All non-categorical features were centered &amp; scaled before proceeding with analyses</a:t>
            </a:r>
            <a:br>
              <a:rPr lang="en"/>
            </a:br>
            <a:endParaRPr/>
          </a:p>
          <a:p>
            <a:pPr indent="-342900" lvl="0" marL="457200" rtl="0" algn="l">
              <a:spcBef>
                <a:spcPts val="0"/>
              </a:spcBef>
              <a:spcAft>
                <a:spcPts val="0"/>
              </a:spcAft>
              <a:buSzPts val="1800"/>
              <a:buChar char="-"/>
            </a:pPr>
            <a:r>
              <a:rPr lang="en"/>
              <a:t>Coefficient estimates can be compared on centered &amp; scaled predictors since we have instilled consistent interpretations, helping obtain a crude measure of the “most influential” risk factors</a:t>
            </a:r>
            <a:br>
              <a:rPr lang="en"/>
            </a:br>
            <a:endParaRPr/>
          </a:p>
          <a:p>
            <a:pPr indent="-342900" lvl="0" marL="457200" rtl="0" algn="l">
              <a:spcBef>
                <a:spcPts val="0"/>
              </a:spcBef>
              <a:spcAft>
                <a:spcPts val="0"/>
              </a:spcAft>
              <a:buSzPts val="1800"/>
              <a:buChar char="-"/>
            </a:pPr>
            <a:r>
              <a:rPr lang="en"/>
              <a:t>Several risk factors bounded on small scales (0 - 1), so this </a:t>
            </a:r>
            <a:r>
              <a:rPr lang="en"/>
              <a:t>additionally helps with general interpretations</a:t>
            </a:r>
            <a:br>
              <a:rPr lang="en"/>
            </a:br>
            <a:endParaRPr/>
          </a:p>
          <a:p>
            <a:pPr indent="-342900" lvl="0" marL="457200" rtl="0" algn="l">
              <a:spcBef>
                <a:spcPts val="0"/>
              </a:spcBef>
              <a:spcAft>
                <a:spcPts val="0"/>
              </a:spcAft>
              <a:buSzPts val="1800"/>
              <a:buChar char="-"/>
            </a:pPr>
            <a:r>
              <a:rPr lang="en"/>
              <a:t>Dummy variable coding for binary and categorical variables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Model Components</a:t>
            </a:r>
            <a:endParaRPr/>
          </a:p>
        </p:txBody>
      </p:sp>
      <p:sp>
        <p:nvSpPr>
          <p:cNvPr id="178" name="Google Shape;178;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Outcome: Binary indicator, 0 = Benign, 1 = Malignant</a:t>
            </a:r>
            <a:br>
              <a:rPr lang="en"/>
            </a:br>
            <a:r>
              <a:rPr lang="en"/>
              <a:t>(we will be modeling the probability of a </a:t>
            </a:r>
            <a:r>
              <a:rPr lang="en"/>
              <a:t>patient</a:t>
            </a:r>
            <a:r>
              <a:rPr lang="en"/>
              <a:t> receiving a malignant diagnoses, i.e. coefficients &gt; 1 will have negative patient impacts as they grow)</a:t>
            </a:r>
            <a:br>
              <a:rPr lang="en"/>
            </a:br>
            <a:endParaRPr/>
          </a:p>
          <a:p>
            <a:pPr indent="-342900" lvl="0" marL="457200" rtl="0" algn="l">
              <a:spcBef>
                <a:spcPts val="0"/>
              </a:spcBef>
              <a:spcAft>
                <a:spcPts val="0"/>
              </a:spcAft>
              <a:buSzPts val="1800"/>
              <a:buChar char="-"/>
            </a:pPr>
            <a:r>
              <a:rPr lang="en"/>
              <a:t>Fixed effects: </a:t>
            </a:r>
            <a:endParaRPr/>
          </a:p>
          <a:p>
            <a:pPr indent="-317500" lvl="1" marL="914400" rtl="0" algn="l">
              <a:spcBef>
                <a:spcPts val="0"/>
              </a:spcBef>
              <a:spcAft>
                <a:spcPts val="0"/>
              </a:spcAft>
              <a:buSzPts val="1400"/>
              <a:buChar char="-"/>
            </a:pPr>
            <a:r>
              <a:rPr lang="en"/>
              <a:t>Continuous nodule size, shape, margin sharpness, echogenicity, and texture entropy</a:t>
            </a:r>
            <a:endParaRPr/>
          </a:p>
          <a:p>
            <a:pPr indent="-317500" lvl="1" marL="914400" rtl="0" algn="l">
              <a:spcBef>
                <a:spcPts val="0"/>
              </a:spcBef>
              <a:spcAft>
                <a:spcPts val="0"/>
              </a:spcAft>
              <a:buSzPts val="1400"/>
              <a:buChar char="-"/>
            </a:pPr>
            <a:r>
              <a:rPr lang="en"/>
              <a:t>Binary indicators for presence of calcification of capsular invasion (breach of cancer cells)</a:t>
            </a:r>
            <a:endParaRPr/>
          </a:p>
          <a:p>
            <a:pPr indent="-317500" lvl="1" marL="914400" rtl="0" algn="l">
              <a:spcBef>
                <a:spcPts val="0"/>
              </a:spcBef>
              <a:spcAft>
                <a:spcPts val="0"/>
              </a:spcAft>
              <a:buSzPts val="1400"/>
              <a:buChar char="-"/>
            </a:pPr>
            <a:r>
              <a:rPr lang="en"/>
              <a:t>Categorical low/medium/high risk of hypothyroidism (based in TSH concentration)</a:t>
            </a:r>
            <a:endParaRPr/>
          </a:p>
          <a:p>
            <a:pPr indent="-317500" lvl="1" marL="914400" rtl="0" algn="l">
              <a:spcBef>
                <a:spcPts val="0"/>
              </a:spcBef>
              <a:spcAft>
                <a:spcPts val="0"/>
              </a:spcAft>
              <a:buSzPts val="1400"/>
              <a:buChar char="-"/>
            </a:pPr>
            <a:r>
              <a:rPr lang="en"/>
              <a:t>Continuous </a:t>
            </a:r>
            <a:r>
              <a:rPr lang="en"/>
              <a:t>TPOAb &amp; TGAB</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Generalized Estimating Equation (GEE) Approach</a:t>
            </a:r>
            <a:endParaRPr/>
          </a:p>
        </p:txBody>
      </p:sp>
      <p:sp>
        <p:nvSpPr>
          <p:cNvPr id="184" name="Google Shape;184;p34"/>
          <p:cNvSpPr txBox="1"/>
          <p:nvPr>
            <p:ph idx="1" type="body"/>
          </p:nvPr>
        </p:nvSpPr>
        <p:spPr>
          <a:xfrm>
            <a:off x="311700" y="1152475"/>
            <a:ext cx="8520600" cy="3760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Initial model; good robust approach for exploratory analyses</a:t>
            </a:r>
            <a:br>
              <a:rPr lang="en"/>
            </a:br>
            <a:endParaRPr/>
          </a:p>
          <a:p>
            <a:pPr indent="-342900" lvl="0" marL="457200" rtl="0" algn="l">
              <a:spcBef>
                <a:spcPts val="0"/>
              </a:spcBef>
              <a:spcAft>
                <a:spcPts val="0"/>
              </a:spcAft>
              <a:buSzPts val="1800"/>
              <a:buChar char="-"/>
            </a:pPr>
            <a:r>
              <a:rPr lang="en"/>
              <a:t>Assume exchangeable/compound symmetry correlation structure, then plot Pearson residuals to observe the empirical correlation structure across visit lag times</a:t>
            </a:r>
            <a:br>
              <a:rPr lang="en"/>
            </a:br>
            <a:endParaRPr/>
          </a:p>
          <a:p>
            <a:pPr indent="-342900" lvl="0" marL="457200" rtl="0" algn="l">
              <a:spcBef>
                <a:spcPts val="0"/>
              </a:spcBef>
              <a:spcAft>
                <a:spcPts val="0"/>
              </a:spcAft>
              <a:buSzPts val="1800"/>
              <a:buChar char="-"/>
            </a:pPr>
            <a:r>
              <a:rPr lang="en"/>
              <a:t>Adjust to AR(1) correlation structure if it appears more appropriate based on empirical correlation plot</a:t>
            </a:r>
            <a:br>
              <a:rPr lang="en"/>
            </a:br>
            <a:endParaRPr/>
          </a:p>
          <a:p>
            <a:pPr indent="-342900" lvl="0" marL="457200" rtl="0" algn="l">
              <a:spcBef>
                <a:spcPts val="0"/>
              </a:spcBef>
              <a:spcAft>
                <a:spcPts val="0"/>
              </a:spcAft>
              <a:buSzPts val="1800"/>
              <a:buChar char="-"/>
            </a:pPr>
            <a:r>
              <a:rPr lang="en"/>
              <a:t>Review Pearson &amp; deviance residuals to ensure adequate model fit and correctly specified mean/variance structures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Generalized Estimating Equation (GEE) Approach</a:t>
            </a:r>
            <a:endParaRPr/>
          </a:p>
        </p:txBody>
      </p:sp>
      <p:sp>
        <p:nvSpPr>
          <p:cNvPr id="190" name="Google Shape;190;p35"/>
          <p:cNvSpPr txBox="1"/>
          <p:nvPr>
            <p:ph idx="1" type="body"/>
          </p:nvPr>
        </p:nvSpPr>
        <p:spPr>
          <a:xfrm>
            <a:off x="311700" y="1152475"/>
            <a:ext cx="8520600" cy="3760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Compare GEE to subsequent models using AIC/BIC</a:t>
            </a:r>
            <a:br>
              <a:rPr lang="en"/>
            </a:br>
            <a:endParaRPr/>
          </a:p>
          <a:p>
            <a:pPr indent="-342900" lvl="0" marL="457200" rtl="0" algn="l">
              <a:spcBef>
                <a:spcPts val="0"/>
              </a:spcBef>
              <a:spcAft>
                <a:spcPts val="0"/>
              </a:spcAft>
              <a:buSzPts val="1800"/>
              <a:buChar char="-"/>
            </a:pPr>
            <a:r>
              <a:rPr lang="en"/>
              <a:t>Use results to guide exploratory comparisons with the self-assessment model</a:t>
            </a:r>
            <a:br>
              <a:rPr lang="en"/>
            </a:br>
            <a:endParaRPr/>
          </a:p>
          <a:p>
            <a:pPr indent="-342900" lvl="0" marL="457200" rtl="0" algn="l">
              <a:spcBef>
                <a:spcPts val="0"/>
              </a:spcBef>
              <a:spcAft>
                <a:spcPts val="0"/>
              </a:spcAft>
              <a:buSzPts val="1800"/>
              <a:buChar char="-"/>
            </a:pPr>
            <a:r>
              <a:rPr lang="en"/>
              <a:t>We notice little within-subject variability from the downloaded Kaggle dataset, benign/malignant status does not change over time; we expect that GEE may struggle in this context, since the estimating equations require a certain level of variability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Generalized Linear Model (GLM) Approach</a:t>
            </a:r>
            <a:endParaRPr/>
          </a:p>
        </p:txBody>
      </p:sp>
      <p:sp>
        <p:nvSpPr>
          <p:cNvPr id="196" name="Google Shape;196;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Subset data to only the baseline visit</a:t>
            </a:r>
            <a:endParaRPr/>
          </a:p>
          <a:p>
            <a:pPr indent="-317500" lvl="1" marL="914400" rtl="0" algn="l">
              <a:spcBef>
                <a:spcPts val="0"/>
              </a:spcBef>
              <a:spcAft>
                <a:spcPts val="0"/>
              </a:spcAft>
              <a:buSzPts val="1400"/>
              <a:buChar char="-"/>
            </a:pPr>
            <a:r>
              <a:rPr lang="en"/>
              <a:t>Major assumption: a participant’s measurements at their first visit should be indicative of tumor status, given that tumor status did not change over time</a:t>
            </a:r>
            <a:endParaRPr/>
          </a:p>
          <a:p>
            <a:pPr indent="-317500" lvl="1" marL="914400" rtl="0" algn="l">
              <a:spcBef>
                <a:spcPts val="0"/>
              </a:spcBef>
              <a:spcAft>
                <a:spcPts val="0"/>
              </a:spcAft>
              <a:buSzPts val="1400"/>
              <a:buChar char="-"/>
            </a:pPr>
            <a:r>
              <a:rPr lang="en"/>
              <a:t>By subsetting the data, we are now covering GLM assumptions that all observations are independent</a:t>
            </a:r>
            <a:endParaRPr/>
          </a:p>
          <a:p>
            <a:pPr indent="-317500" lvl="1" marL="914400" rtl="0" algn="l">
              <a:spcBef>
                <a:spcPts val="0"/>
              </a:spcBef>
              <a:spcAft>
                <a:spcPts val="0"/>
              </a:spcAft>
              <a:buSzPts val="1400"/>
              <a:buChar char="-"/>
            </a:pPr>
            <a:r>
              <a:rPr lang="en"/>
              <a:t>We may likely be introducing some bias with this approach, but the goal is to have more </a:t>
            </a:r>
            <a:r>
              <a:rPr lang="en"/>
              <a:t>indicative</a:t>
            </a:r>
            <a:r>
              <a:rPr lang="en"/>
              <a:t> true population-level effect than GEE might provide</a:t>
            </a:r>
            <a:br>
              <a:rPr lang="en"/>
            </a:br>
            <a:endParaRPr/>
          </a:p>
          <a:p>
            <a:pPr indent="-342900" lvl="0" marL="457200" rtl="0" algn="l">
              <a:spcBef>
                <a:spcPts val="0"/>
              </a:spcBef>
              <a:spcAft>
                <a:spcPts val="0"/>
              </a:spcAft>
              <a:buSzPts val="1800"/>
              <a:buChar char="-"/>
            </a:pPr>
            <a:r>
              <a:rPr lang="en"/>
              <a:t>Fit GLM model with default logit link &amp; review Pearson &amp; deviance residual plots to ensure </a:t>
            </a:r>
            <a:r>
              <a:rPr lang="en"/>
              <a:t>appropriate</a:t>
            </a:r>
            <a:r>
              <a:rPr lang="en"/>
              <a:t> fit</a:t>
            </a:r>
            <a:br>
              <a:rPr lang="en"/>
            </a:br>
            <a:endParaRPr/>
          </a:p>
          <a:p>
            <a:pPr indent="-342900" lvl="0" marL="457200" rtl="0" algn="l">
              <a:spcBef>
                <a:spcPts val="0"/>
              </a:spcBef>
              <a:spcAft>
                <a:spcPts val="0"/>
              </a:spcAft>
              <a:buSzPts val="1800"/>
              <a:buChar char="-"/>
            </a:pPr>
            <a:r>
              <a:rPr lang="en">
                <a:highlight>
                  <a:srgbClr val="FFFFFF"/>
                </a:highlight>
              </a:rPr>
              <a:t> Compare to GEE &amp; GLMM with AIC/BIC</a:t>
            </a:r>
            <a:br>
              <a:rPr b="1" lang="en">
                <a:highlight>
                  <a:srgbClr val="FFFFFF"/>
                </a:highlight>
              </a:rPr>
            </a:br>
            <a:endParaRPr b="1">
              <a:highlight>
                <a:srgbClr val="FFFFFF"/>
              </a:highlight>
            </a:endParaRPr>
          </a:p>
          <a:p>
            <a:pPr indent="-342900" lvl="0" marL="457200" rtl="0" algn="l">
              <a:spcBef>
                <a:spcPts val="0"/>
              </a:spcBef>
              <a:spcAft>
                <a:spcPts val="0"/>
              </a:spcAft>
              <a:buSzPts val="1800"/>
              <a:buChar char="-"/>
            </a:pPr>
            <a:r>
              <a:rPr lang="en">
                <a:highlight>
                  <a:srgbClr val="FFFFFF"/>
                </a:highlight>
              </a:rPr>
              <a:t>Use results to guide exploratory comparisons with the self-assessment model</a:t>
            </a:r>
            <a:endParaRPr b="1">
              <a:highlight>
                <a:srgbClr val="FFFFFF"/>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Generalized Linear Mixed Model (GLMM) Approach</a:t>
            </a:r>
            <a:endParaRPr/>
          </a:p>
        </p:txBody>
      </p:sp>
      <p:sp>
        <p:nvSpPr>
          <p:cNvPr id="202" name="Google Shape;202;p37"/>
          <p:cNvSpPr txBox="1"/>
          <p:nvPr>
            <p:ph idx="1" type="body"/>
          </p:nvPr>
        </p:nvSpPr>
        <p:spPr>
          <a:xfrm>
            <a:off x="311700" y="1012725"/>
            <a:ext cx="8520600" cy="37443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None/>
            </a:pPr>
            <a:r>
              <a:rPr lang="en"/>
              <a:t>Performance Metrics</a:t>
            </a:r>
            <a:endParaRPr/>
          </a:p>
          <a:p>
            <a:pPr indent="-317182" lvl="0" marL="457200" rtl="0" algn="l">
              <a:spcBef>
                <a:spcPts val="1200"/>
              </a:spcBef>
              <a:spcAft>
                <a:spcPts val="0"/>
              </a:spcAft>
              <a:buSzPct val="100000"/>
              <a:buChar char="●"/>
            </a:pPr>
            <a:r>
              <a:rPr lang="en"/>
              <a:t>Goodness-of-Fit Comparison: Use Akaike Information Criterion (AIC) to compare model fit.</a:t>
            </a:r>
            <a:endParaRPr/>
          </a:p>
          <a:p>
            <a:pPr indent="-317182" lvl="1" marL="914400" rtl="0" algn="l">
              <a:spcBef>
                <a:spcPts val="0"/>
              </a:spcBef>
              <a:spcAft>
                <a:spcPts val="0"/>
              </a:spcAft>
              <a:buSzPct val="100000"/>
              <a:buChar char="○"/>
            </a:pPr>
            <a:r>
              <a:rPr lang="en" sz="1800"/>
              <a:t>Hypothesis: Lower AIC in Model 2 confirms clinical features' superior explanatory power over demographics.</a:t>
            </a:r>
            <a:endParaRPr sz="1800"/>
          </a:p>
          <a:p>
            <a:pPr indent="-317182" lvl="0" marL="457200" rtl="0" algn="l">
              <a:spcBef>
                <a:spcPts val="0"/>
              </a:spcBef>
              <a:spcAft>
                <a:spcPts val="0"/>
              </a:spcAft>
              <a:buSzPct val="100000"/>
              <a:buChar char="●"/>
            </a:pPr>
            <a:r>
              <a:rPr lang="en"/>
              <a:t>Significance Testing:</a:t>
            </a:r>
            <a:endParaRPr/>
          </a:p>
          <a:p>
            <a:pPr indent="-317182" lvl="1" marL="914400" rtl="0" algn="l">
              <a:spcBef>
                <a:spcPts val="0"/>
              </a:spcBef>
              <a:spcAft>
                <a:spcPts val="0"/>
              </a:spcAft>
              <a:buSzPct val="100000"/>
              <a:buChar char="○"/>
            </a:pPr>
            <a:r>
              <a:rPr lang="en" sz="1800"/>
              <a:t>Model 1 Strategy: Test demographic fixed effects for significance to validate their utility as risk proxies.</a:t>
            </a:r>
            <a:endParaRPr sz="1800"/>
          </a:p>
          <a:p>
            <a:pPr indent="-317182" lvl="1" marL="914400" rtl="0" algn="l">
              <a:spcBef>
                <a:spcPts val="0"/>
              </a:spcBef>
              <a:spcAft>
                <a:spcPts val="0"/>
              </a:spcAft>
              <a:buSzPct val="100000"/>
              <a:buChar char="○"/>
            </a:pPr>
            <a:r>
              <a:rPr lang="en" sz="1800"/>
              <a:t>Model 2 Strategy: Evaluate significance of clinical drivers to confirm biological plausibility.</a:t>
            </a:r>
            <a:endParaRPr sz="1800"/>
          </a:p>
          <a:p>
            <a:pPr indent="0" lvl="0" marL="0" rtl="0" algn="l">
              <a:spcBef>
                <a:spcPts val="1200"/>
              </a:spcBef>
              <a:spcAft>
                <a:spcPts val="0"/>
              </a:spcAft>
              <a:buNone/>
            </a:pPr>
            <a:r>
              <a:rPr lang="en"/>
              <a:t>Investigating Unmeasured Heterogeneity</a:t>
            </a:r>
            <a:endParaRPr/>
          </a:p>
          <a:p>
            <a:pPr indent="-317182" lvl="0" marL="457200" rtl="0" algn="l">
              <a:spcBef>
                <a:spcPts val="1200"/>
              </a:spcBef>
              <a:spcAft>
                <a:spcPts val="0"/>
              </a:spcAft>
              <a:buSzPct val="100000"/>
              <a:buChar char="●"/>
            </a:pPr>
            <a:r>
              <a:rPr lang="en"/>
              <a:t>Analysis of Random Effects : Estimate variance of the subject-specific random intercept.</a:t>
            </a:r>
            <a:endParaRPr/>
          </a:p>
          <a:p>
            <a:pPr indent="-317182" lvl="0" marL="457200" rtl="0" algn="l">
              <a:spcBef>
                <a:spcPts val="0"/>
              </a:spcBef>
              <a:spcAft>
                <a:spcPts val="0"/>
              </a:spcAft>
              <a:buSzPct val="100000"/>
              <a:buChar char="●"/>
            </a:pPr>
            <a:r>
              <a:rPr lang="en"/>
              <a:t>Research Question: How much does unmeasured individual heterogeneity drive the risk profile?</a:t>
            </a:r>
            <a:endParaRPr/>
          </a:p>
          <a:p>
            <a:pPr indent="-317182" lvl="0" marL="457200" rtl="0" algn="l">
              <a:spcBef>
                <a:spcPts val="0"/>
              </a:spcBef>
              <a:spcAft>
                <a:spcPts val="0"/>
              </a:spcAft>
              <a:buSzPct val="100000"/>
              <a:buChar char="●"/>
            </a:pPr>
            <a:r>
              <a:rPr lang="en"/>
              <a:t>Interpretation Strategy:</a:t>
            </a:r>
            <a:endParaRPr/>
          </a:p>
          <a:p>
            <a:pPr indent="-317182" lvl="1" marL="914400" rtl="0" algn="l">
              <a:spcBef>
                <a:spcPts val="0"/>
              </a:spcBef>
              <a:spcAft>
                <a:spcPts val="0"/>
              </a:spcAft>
              <a:buSzPct val="100000"/>
              <a:buChar char="○"/>
            </a:pPr>
            <a:r>
              <a:rPr lang="en" sz="1800"/>
              <a:t>High estimate variance of random effects in Model 1 suggests baseline risk is more important than wearables.</a:t>
            </a:r>
            <a:endParaRPr sz="1800"/>
          </a:p>
          <a:p>
            <a:pPr indent="-317182" lvl="1" marL="914400" rtl="0" algn="l">
              <a:spcBef>
                <a:spcPts val="0"/>
              </a:spcBef>
              <a:spcAft>
                <a:spcPts val="0"/>
              </a:spcAft>
              <a:buSzPct val="100000"/>
              <a:buChar char="○"/>
            </a:pPr>
            <a:r>
              <a:rPr lang="en" sz="1800"/>
              <a:t>Assess if adding clinical features in Model 2 reduces this unexplained variance.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Generalized Linear Mixed Model (GLMM) Approach</a:t>
            </a:r>
            <a:endParaRPr b="1" i="0" sz="3000" u="none" cap="none" strike="noStrike">
              <a:solidFill>
                <a:schemeClr val="dk2"/>
              </a:solidFill>
              <a:latin typeface="Raleway"/>
              <a:ea typeface="Raleway"/>
              <a:cs typeface="Raleway"/>
              <a:sym typeface="Raleway"/>
            </a:endParaRPr>
          </a:p>
        </p:txBody>
      </p:sp>
      <p:sp>
        <p:nvSpPr>
          <p:cNvPr id="208" name="Google Shape;208;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Assumptions Check:</a:t>
            </a:r>
            <a:endParaRPr/>
          </a:p>
          <a:p>
            <a:pPr indent="-342900" lvl="0" marL="457200" rtl="0" algn="l">
              <a:spcBef>
                <a:spcPts val="1200"/>
              </a:spcBef>
              <a:spcAft>
                <a:spcPts val="0"/>
              </a:spcAft>
              <a:buSzPts val="1800"/>
              <a:buChar char="●"/>
            </a:pPr>
            <a:r>
              <a:rPr lang="en"/>
              <a:t>Pearson Residuals, Q-Q Plot</a:t>
            </a:r>
            <a:endParaRPr/>
          </a:p>
          <a:p>
            <a:pPr indent="0" lvl="0" marL="0" rtl="0" algn="l">
              <a:spcBef>
                <a:spcPts val="1200"/>
              </a:spcBef>
              <a:spcAft>
                <a:spcPts val="0"/>
              </a:spcAft>
              <a:buNone/>
            </a:pPr>
            <a:r>
              <a:rPr lang="en"/>
              <a:t>Model superiority will be determined by:</a:t>
            </a:r>
            <a:endParaRPr/>
          </a:p>
          <a:p>
            <a:pPr indent="-342900" lvl="0" marL="457200" marR="0" rtl="0" algn="l">
              <a:lnSpc>
                <a:spcPct val="115000"/>
              </a:lnSpc>
              <a:spcBef>
                <a:spcPts val="1200"/>
              </a:spcBef>
              <a:spcAft>
                <a:spcPts val="0"/>
              </a:spcAft>
              <a:buSzPts val="1800"/>
              <a:buChar char="●"/>
            </a:pPr>
            <a:r>
              <a:rPr lang="en"/>
              <a:t>Statistical Validity: Better satisfaction of linearity and normality assumptions.</a:t>
            </a:r>
            <a:endParaRPr/>
          </a:p>
          <a:p>
            <a:pPr indent="-342900" lvl="0" marL="457200" marR="0" rtl="0" algn="l">
              <a:lnSpc>
                <a:spcPct val="115000"/>
              </a:lnSpc>
              <a:spcBef>
                <a:spcPts val="0"/>
              </a:spcBef>
              <a:spcAft>
                <a:spcPts val="0"/>
              </a:spcAft>
              <a:buSzPts val="1800"/>
              <a:buChar char="●"/>
            </a:pPr>
            <a:r>
              <a:rPr lang="en"/>
              <a:t>Predictive Capability: Identification of actionable, significant predictors over unobserved heterogeneity.</a:t>
            </a:r>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Results: Self-Assessment Model</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 - Logistic GLM Exponentiated ORs + 95% CIs</a:t>
            </a:r>
            <a:endParaRPr/>
          </a:p>
        </p:txBody>
      </p:sp>
      <p:pic>
        <p:nvPicPr>
          <p:cNvPr id="219" name="Google Shape;219;p40" title="Screenshot 2025-12-01 at 10.10.53.png"/>
          <p:cNvPicPr preferRelativeResize="0"/>
          <p:nvPr/>
        </p:nvPicPr>
        <p:blipFill rotWithShape="1">
          <a:blip r:embed="rId3">
            <a:alphaModFix/>
          </a:blip>
          <a:srcRect b="109" l="0" r="0" t="109"/>
          <a:stretch/>
        </p:blipFill>
        <p:spPr>
          <a:xfrm>
            <a:off x="311700" y="1015500"/>
            <a:ext cx="5561475" cy="3998349"/>
          </a:xfrm>
          <a:prstGeom prst="rect">
            <a:avLst/>
          </a:prstGeom>
          <a:noFill/>
          <a:ln>
            <a:noFill/>
          </a:ln>
        </p:spPr>
      </p:pic>
      <p:sp>
        <p:nvSpPr>
          <p:cNvPr id="220" name="Google Shape;220;p40"/>
          <p:cNvSpPr txBox="1"/>
          <p:nvPr/>
        </p:nvSpPr>
        <p:spPr>
          <a:xfrm>
            <a:off x="5994150" y="1015500"/>
            <a:ext cx="3016200" cy="379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800">
                <a:solidFill>
                  <a:schemeClr val="lt2"/>
                </a:solidFill>
                <a:latin typeface="Source Sans Pro"/>
                <a:ea typeface="Source Sans Pro"/>
                <a:cs typeface="Source Sans Pro"/>
                <a:sym typeface="Source Sans Pro"/>
              </a:rPr>
              <a:t>Significant predictors: BMI, Family History</a:t>
            </a:r>
            <a:endParaRPr sz="1800">
              <a:solidFill>
                <a:schemeClr val="lt2"/>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lang="en" sz="1800">
                <a:solidFill>
                  <a:schemeClr val="lt2"/>
                </a:solidFill>
                <a:latin typeface="Source Sans Pro"/>
                <a:ea typeface="Source Sans Pro"/>
                <a:cs typeface="Source Sans Pro"/>
                <a:sym typeface="Source Sans Pro"/>
              </a:rPr>
              <a:t>Associations are small</a:t>
            </a:r>
            <a:endParaRPr sz="1800">
              <a:solidFill>
                <a:schemeClr val="lt2"/>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lang="en" sz="1800">
                <a:solidFill>
                  <a:schemeClr val="lt2"/>
                </a:solidFill>
                <a:latin typeface="Source Sans Pro"/>
                <a:ea typeface="Source Sans Pro"/>
                <a:cs typeface="Source Sans Pro"/>
                <a:sym typeface="Source Sans Pro"/>
              </a:rPr>
              <a:t>Oversampling cases with many visits</a:t>
            </a:r>
            <a:endParaRPr sz="1800">
              <a:solidFill>
                <a:schemeClr val="lt2"/>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t/>
            </a:r>
            <a:endParaRPr sz="1800">
              <a:solidFill>
                <a:schemeClr val="lt2"/>
              </a:solidFill>
              <a:latin typeface="Source Sans Pro"/>
              <a:ea typeface="Source Sans Pro"/>
              <a:cs typeface="Source Sans Pro"/>
              <a:sym typeface="Source Sans Pro"/>
            </a:endParaRPr>
          </a:p>
          <a:p>
            <a:pPr indent="0" lvl="0" marL="0" rtl="0" algn="l">
              <a:lnSpc>
                <a:spcPct val="115000"/>
              </a:lnSpc>
              <a:spcBef>
                <a:spcPts val="1200"/>
              </a:spcBef>
              <a:spcAft>
                <a:spcPts val="1200"/>
              </a:spcAft>
              <a:buNone/>
            </a:pPr>
            <a:r>
              <a:rPr lang="en" sz="1800">
                <a:solidFill>
                  <a:schemeClr val="lt2"/>
                </a:solidFill>
                <a:latin typeface="Source Sans Pro"/>
                <a:ea typeface="Source Sans Pro"/>
                <a:cs typeface="Source Sans Pro"/>
                <a:sym typeface="Source Sans Pro"/>
              </a:rPr>
              <a:t>Reflects how characteristics &amp; self-</a:t>
            </a:r>
            <a:r>
              <a:rPr lang="en" sz="1800">
                <a:solidFill>
                  <a:schemeClr val="lt2"/>
                </a:solidFill>
                <a:latin typeface="Source Sans Pro"/>
                <a:ea typeface="Source Sans Pro"/>
                <a:cs typeface="Source Sans Pro"/>
                <a:sym typeface="Source Sans Pro"/>
              </a:rPr>
              <a:t>assessment</a:t>
            </a:r>
            <a:r>
              <a:rPr lang="en" sz="1800">
                <a:solidFill>
                  <a:schemeClr val="lt2"/>
                </a:solidFill>
                <a:latin typeface="Source Sans Pro"/>
                <a:ea typeface="Source Sans Pro"/>
                <a:cs typeface="Source Sans Pro"/>
                <a:sym typeface="Source Sans Pro"/>
              </a:rPr>
              <a:t> measures differ between patients with cancer vs. without cancer</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 - Deviance residuals vs fitted</a:t>
            </a:r>
            <a:endParaRPr/>
          </a:p>
        </p:txBody>
      </p:sp>
      <p:sp>
        <p:nvSpPr>
          <p:cNvPr id="226" name="Google Shape;226;p41"/>
          <p:cNvSpPr txBox="1"/>
          <p:nvPr>
            <p:ph idx="1" type="body"/>
          </p:nvPr>
        </p:nvSpPr>
        <p:spPr>
          <a:xfrm>
            <a:off x="5215775" y="1204575"/>
            <a:ext cx="3616500" cy="3364200"/>
          </a:xfrm>
          <a:prstGeom prst="rect">
            <a:avLst/>
          </a:prstGeom>
        </p:spPr>
        <p:txBody>
          <a:bodyPr anchorCtr="0" anchor="t" bIns="91425" lIns="91425" spcFirstLastPara="1" rIns="91425" wrap="square" tIns="91425">
            <a:normAutofit/>
          </a:bodyPr>
          <a:lstStyle/>
          <a:p>
            <a:pPr indent="-374650" lvl="0" marL="457200" rtl="0" algn="l">
              <a:spcBef>
                <a:spcPts val="1200"/>
              </a:spcBef>
              <a:spcAft>
                <a:spcPts val="0"/>
              </a:spcAft>
              <a:buSzPts val="2300"/>
              <a:buChar char="●"/>
            </a:pPr>
            <a:r>
              <a:rPr lang="en" sz="2300"/>
              <a:t>Two lines with n</a:t>
            </a:r>
            <a:r>
              <a:rPr lang="en" sz="2300"/>
              <a:t>o curvature / patterns -&gt; no lack of fit</a:t>
            </a:r>
            <a:endParaRPr sz="2300"/>
          </a:p>
          <a:p>
            <a:pPr indent="-349250" lvl="1" marL="914400" rtl="0" algn="l">
              <a:spcBef>
                <a:spcPts val="0"/>
              </a:spcBef>
              <a:spcAft>
                <a:spcPts val="0"/>
              </a:spcAft>
              <a:buSzPts val="1900"/>
              <a:buChar char="○"/>
            </a:pPr>
            <a:r>
              <a:rPr lang="en" sz="1900"/>
              <a:t>Linearity✅</a:t>
            </a:r>
            <a:endParaRPr sz="1900"/>
          </a:p>
          <a:p>
            <a:pPr indent="-349250" lvl="1" marL="914400" rtl="0" algn="l">
              <a:spcBef>
                <a:spcPts val="0"/>
              </a:spcBef>
              <a:spcAft>
                <a:spcPts val="0"/>
              </a:spcAft>
              <a:buSzPts val="1900"/>
              <a:buChar char="○"/>
            </a:pPr>
            <a:r>
              <a:rPr lang="en" sz="1900"/>
              <a:t>Homoscedasticity✅</a:t>
            </a:r>
            <a:endParaRPr sz="1900"/>
          </a:p>
          <a:p>
            <a:pPr indent="-349250" lvl="1" marL="914400" rtl="0" algn="l">
              <a:spcBef>
                <a:spcPts val="0"/>
              </a:spcBef>
              <a:spcAft>
                <a:spcPts val="0"/>
              </a:spcAft>
              <a:buSzPts val="1900"/>
              <a:buChar char="○"/>
            </a:pPr>
            <a:r>
              <a:rPr lang="en" sz="1900"/>
              <a:t>Independence❌</a:t>
            </a:r>
            <a:endParaRPr sz="1900"/>
          </a:p>
          <a:p>
            <a:pPr indent="-374650" lvl="0" marL="457200" rtl="0" algn="l">
              <a:spcBef>
                <a:spcPts val="0"/>
              </a:spcBef>
              <a:spcAft>
                <a:spcPts val="0"/>
              </a:spcAft>
              <a:buSzPts val="2300"/>
              <a:buChar char="●"/>
            </a:pPr>
            <a:r>
              <a:rPr lang="en" sz="2300"/>
              <a:t>Fit GLM for comparison with GEE and GLMM</a:t>
            </a:r>
            <a:endParaRPr sz="2300"/>
          </a:p>
        </p:txBody>
      </p:sp>
      <p:pic>
        <p:nvPicPr>
          <p:cNvPr id="227" name="Google Shape;227;p41" title="Screenshot 2025-12-01 at 10.12.27.png"/>
          <p:cNvPicPr preferRelativeResize="0"/>
          <p:nvPr/>
        </p:nvPicPr>
        <p:blipFill rotWithShape="1">
          <a:blip r:embed="rId3">
            <a:alphaModFix/>
          </a:blip>
          <a:srcRect b="980" l="0" r="0" t="990"/>
          <a:stretch/>
        </p:blipFill>
        <p:spPr>
          <a:xfrm>
            <a:off x="240751" y="1204577"/>
            <a:ext cx="4890701" cy="34509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GEE</a:t>
            </a:r>
            <a:endParaRPr/>
          </a:p>
        </p:txBody>
      </p:sp>
      <p:sp>
        <p:nvSpPr>
          <p:cNvPr id="233" name="Google Shape;233;p42"/>
          <p:cNvSpPr txBox="1"/>
          <p:nvPr>
            <p:ph idx="1" type="body"/>
          </p:nvPr>
        </p:nvSpPr>
        <p:spPr>
          <a:xfrm>
            <a:off x="311700" y="1152475"/>
            <a:ext cx="2312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Alpha = 1.002</a:t>
            </a:r>
            <a:endParaRPr/>
          </a:p>
          <a:p>
            <a:pPr indent="0" lvl="0" marL="0" rtl="0" algn="l">
              <a:spcBef>
                <a:spcPts val="1200"/>
              </a:spcBef>
              <a:spcAft>
                <a:spcPts val="0"/>
              </a:spcAft>
              <a:buNone/>
            </a:pPr>
            <a:r>
              <a:rPr lang="en"/>
              <a:t>W</a:t>
            </a:r>
            <a:r>
              <a:rPr lang="en"/>
              <a:t>ithin-subject outcomes have no variation / correlation can't be estimated</a:t>
            </a:r>
            <a:endParaRPr/>
          </a:p>
          <a:p>
            <a:pPr indent="0" lvl="0" marL="0" rtl="0" algn="l">
              <a:spcBef>
                <a:spcPts val="1200"/>
              </a:spcBef>
              <a:spcAft>
                <a:spcPts val="1200"/>
              </a:spcAft>
              <a:buNone/>
            </a:pPr>
            <a:r>
              <a:rPr lang="en"/>
              <a:t>No significant predictor</a:t>
            </a:r>
            <a:endParaRPr/>
          </a:p>
        </p:txBody>
      </p:sp>
      <p:pic>
        <p:nvPicPr>
          <p:cNvPr id="234" name="Google Shape;234;p42" title="Screenshot 2025-12-01 at 10.15.27.png"/>
          <p:cNvPicPr preferRelativeResize="0"/>
          <p:nvPr/>
        </p:nvPicPr>
        <p:blipFill rotWithShape="1">
          <a:blip r:embed="rId3">
            <a:alphaModFix/>
          </a:blip>
          <a:srcRect b="0" l="738" r="738" t="0"/>
          <a:stretch/>
        </p:blipFill>
        <p:spPr>
          <a:xfrm>
            <a:off x="2624400" y="99350"/>
            <a:ext cx="6476651" cy="49448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GEE - </a:t>
            </a:r>
            <a:r>
              <a:rPr lang="en"/>
              <a:t>sensitivity</a:t>
            </a:r>
            <a:endParaRPr/>
          </a:p>
        </p:txBody>
      </p:sp>
      <p:pic>
        <p:nvPicPr>
          <p:cNvPr id="240" name="Google Shape;240;p43" title="Screenshot 2025-12-01 at 10.15.35.png"/>
          <p:cNvPicPr preferRelativeResize="0"/>
          <p:nvPr/>
        </p:nvPicPr>
        <p:blipFill rotWithShape="1">
          <a:blip r:embed="rId3">
            <a:alphaModFix/>
          </a:blip>
          <a:srcRect b="0" l="238" r="238" t="0"/>
          <a:stretch/>
        </p:blipFill>
        <p:spPr>
          <a:xfrm>
            <a:off x="311700" y="929775"/>
            <a:ext cx="4175784" cy="3198682"/>
          </a:xfrm>
          <a:prstGeom prst="rect">
            <a:avLst/>
          </a:prstGeom>
          <a:noFill/>
          <a:ln>
            <a:noFill/>
          </a:ln>
        </p:spPr>
      </p:pic>
      <p:pic>
        <p:nvPicPr>
          <p:cNvPr id="241" name="Google Shape;241;p43" title="Screenshot 2025-12-01 at 10.15.52.png"/>
          <p:cNvPicPr preferRelativeResize="0"/>
          <p:nvPr/>
        </p:nvPicPr>
        <p:blipFill rotWithShape="1">
          <a:blip r:embed="rId4">
            <a:alphaModFix/>
          </a:blip>
          <a:srcRect b="0" l="436" r="436" t="0"/>
          <a:stretch/>
        </p:blipFill>
        <p:spPr>
          <a:xfrm>
            <a:off x="4656509" y="929775"/>
            <a:ext cx="4175788" cy="3222507"/>
          </a:xfrm>
          <a:prstGeom prst="rect">
            <a:avLst/>
          </a:prstGeom>
          <a:noFill/>
          <a:ln>
            <a:noFill/>
          </a:ln>
        </p:spPr>
      </p:pic>
      <p:sp>
        <p:nvSpPr>
          <p:cNvPr id="242" name="Google Shape;242;p43"/>
          <p:cNvSpPr txBox="1"/>
          <p:nvPr/>
        </p:nvSpPr>
        <p:spPr>
          <a:xfrm>
            <a:off x="311700" y="4212075"/>
            <a:ext cx="8281500" cy="65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500">
                <a:solidFill>
                  <a:schemeClr val="lt2"/>
                </a:solidFill>
                <a:latin typeface="Source Sans Pro"/>
                <a:ea typeface="Source Sans Pro"/>
                <a:cs typeface="Source Sans Pro"/>
                <a:sym typeface="Source Sans Pro"/>
              </a:rPr>
              <a:t>ORs and 95% CIs are almost identical for </a:t>
            </a:r>
            <a:r>
              <a:rPr lang="en" sz="1500">
                <a:solidFill>
                  <a:schemeClr val="lt2"/>
                </a:solidFill>
                <a:latin typeface="Source Sans Pro"/>
                <a:ea typeface="Source Sans Pro"/>
                <a:cs typeface="Source Sans Pro"/>
                <a:sym typeface="Source Sans Pro"/>
              </a:rPr>
              <a:t>exchangeable, </a:t>
            </a:r>
            <a:r>
              <a:rPr lang="en" sz="1500">
                <a:solidFill>
                  <a:schemeClr val="lt2"/>
                </a:solidFill>
                <a:latin typeface="Source Sans Pro"/>
                <a:ea typeface="Source Sans Pro"/>
                <a:cs typeface="Source Sans Pro"/>
                <a:sym typeface="Source Sans Pro"/>
              </a:rPr>
              <a:t>independence, AR-1 -&gt; not sensitive to choice of structure; Independence model: BMI is significant;</a:t>
            </a:r>
            <a:endParaRPr sz="1500">
              <a:solidFill>
                <a:schemeClr val="lt2"/>
              </a:solidFill>
              <a:latin typeface="Source Sans Pro"/>
              <a:ea typeface="Source Sans Pro"/>
              <a:cs typeface="Source Sans Pro"/>
              <a:sym typeface="Source Sans Pr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GEE - Pearson residuals vs fitted</a:t>
            </a:r>
            <a:endParaRPr/>
          </a:p>
        </p:txBody>
      </p:sp>
      <p:sp>
        <p:nvSpPr>
          <p:cNvPr id="248" name="Google Shape;248;p44"/>
          <p:cNvSpPr txBox="1"/>
          <p:nvPr>
            <p:ph idx="1" type="body"/>
          </p:nvPr>
        </p:nvSpPr>
        <p:spPr>
          <a:xfrm>
            <a:off x="5703675" y="1192175"/>
            <a:ext cx="3128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a:t>
            </a:r>
            <a:r>
              <a:rPr lang="en"/>
              <a:t>o strong pattern -&gt; The model is reasonably specified</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 = 80000 -&gt; </a:t>
            </a:r>
            <a:r>
              <a:rPr lang="en"/>
              <a:t>Large sample approximation for the robust standard errors is reliable</a:t>
            </a:r>
            <a:endParaRPr/>
          </a:p>
        </p:txBody>
      </p:sp>
      <p:pic>
        <p:nvPicPr>
          <p:cNvPr id="249" name="Google Shape;249;p44" title="Screenshot 2025-12-01 at 10.15.58.png"/>
          <p:cNvPicPr preferRelativeResize="0"/>
          <p:nvPr/>
        </p:nvPicPr>
        <p:blipFill>
          <a:blip r:embed="rId3">
            <a:alphaModFix/>
          </a:blip>
          <a:stretch>
            <a:fillRect/>
          </a:stretch>
        </p:blipFill>
        <p:spPr>
          <a:xfrm>
            <a:off x="152400" y="1220825"/>
            <a:ext cx="5398877" cy="341424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5"/>
          <p:cNvSpPr txBox="1"/>
          <p:nvPr>
            <p:ph type="title"/>
          </p:nvPr>
        </p:nvSpPr>
        <p:spPr>
          <a:xfrm>
            <a:off x="263900" y="4163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GLMM - Estimated Odd Ratios</a:t>
            </a:r>
            <a:endParaRPr/>
          </a:p>
        </p:txBody>
      </p:sp>
      <p:sp>
        <p:nvSpPr>
          <p:cNvPr id="255" name="Google Shape;255;p45"/>
          <p:cNvSpPr txBox="1"/>
          <p:nvPr>
            <p:ph idx="1" type="body"/>
          </p:nvPr>
        </p:nvSpPr>
        <p:spPr>
          <a:xfrm>
            <a:off x="311700" y="1152475"/>
            <a:ext cx="3130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Only intercept are significant,</a:t>
            </a:r>
            <a:endParaRPr/>
          </a:p>
          <a:p>
            <a:pPr indent="0" lvl="0" marL="0" rtl="0" algn="l">
              <a:spcBef>
                <a:spcPts val="1200"/>
              </a:spcBef>
              <a:spcAft>
                <a:spcPts val="0"/>
              </a:spcAft>
              <a:buNone/>
            </a:pPr>
            <a:r>
              <a:rPr lang="en"/>
              <a:t>No significant predictors</a:t>
            </a:r>
            <a:endParaRPr/>
          </a:p>
          <a:p>
            <a:pPr indent="0" lvl="0" marL="0" rtl="0" algn="l">
              <a:spcBef>
                <a:spcPts val="1200"/>
              </a:spcBef>
              <a:spcAft>
                <a:spcPts val="1200"/>
              </a:spcAft>
              <a:buNone/>
            </a:pPr>
            <a:r>
              <a:rPr lang="en"/>
              <a:t>The variance of the random effects is 86.57 (sd = 9.3), and ICC is 0.963,  </a:t>
            </a:r>
            <a:r>
              <a:rPr lang="en"/>
              <a:t>indicating random effects</a:t>
            </a:r>
            <a:r>
              <a:rPr lang="en"/>
              <a:t> explain most variance of the </a:t>
            </a:r>
            <a:r>
              <a:rPr lang="en"/>
              <a:t>data. </a:t>
            </a:r>
            <a:r>
              <a:rPr lang="en"/>
              <a:t> </a:t>
            </a:r>
            <a:endParaRPr/>
          </a:p>
        </p:txBody>
      </p:sp>
      <p:pic>
        <p:nvPicPr>
          <p:cNvPr id="256" name="Google Shape;256;p45"/>
          <p:cNvPicPr preferRelativeResize="0"/>
          <p:nvPr/>
        </p:nvPicPr>
        <p:blipFill>
          <a:blip r:embed="rId3">
            <a:alphaModFix/>
          </a:blip>
          <a:stretch>
            <a:fillRect/>
          </a:stretch>
        </p:blipFill>
        <p:spPr>
          <a:xfrm>
            <a:off x="3441900" y="1039716"/>
            <a:ext cx="5390400" cy="3520908"/>
          </a:xfrm>
          <a:prstGeom prst="rect">
            <a:avLst/>
          </a:prstGeom>
          <a:noFill/>
          <a:ln>
            <a:noFill/>
          </a:ln>
        </p:spPr>
      </p:pic>
      <p:pic>
        <p:nvPicPr>
          <p:cNvPr id="257" name="Google Shape;257;p45"/>
          <p:cNvPicPr preferRelativeResize="0"/>
          <p:nvPr/>
        </p:nvPicPr>
        <p:blipFill>
          <a:blip r:embed="rId4">
            <a:alphaModFix/>
          </a:blip>
          <a:stretch>
            <a:fillRect/>
          </a:stretch>
        </p:blipFill>
        <p:spPr>
          <a:xfrm>
            <a:off x="509050" y="4051250"/>
            <a:ext cx="2108576" cy="5093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GLMM - QQ plot</a:t>
            </a:r>
            <a:endParaRPr/>
          </a:p>
        </p:txBody>
      </p:sp>
      <p:sp>
        <p:nvSpPr>
          <p:cNvPr id="263" name="Google Shape;263;p46"/>
          <p:cNvSpPr txBox="1"/>
          <p:nvPr>
            <p:ph idx="1" type="body"/>
          </p:nvPr>
        </p:nvSpPr>
        <p:spPr>
          <a:xfrm>
            <a:off x="311700" y="1315000"/>
            <a:ext cx="4698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QQ plot show that the random intercepts gather at -1.5 and 8. </a:t>
            </a:r>
            <a:endParaRPr/>
          </a:p>
          <a:p>
            <a:pPr indent="0" lvl="0" marL="0" rtl="0" algn="l">
              <a:spcBef>
                <a:spcPts val="1200"/>
              </a:spcBef>
              <a:spcAft>
                <a:spcPts val="0"/>
              </a:spcAft>
              <a:buNone/>
            </a:pPr>
            <a:r>
              <a:rPr lang="en"/>
              <a:t>The distribution of the random random effect looks like binormal, conforming the invariance of outcome over time. </a:t>
            </a:r>
            <a:endParaRPr/>
          </a:p>
          <a:p>
            <a:pPr indent="0" lvl="0" marL="0" rtl="0" algn="l">
              <a:spcBef>
                <a:spcPts val="1200"/>
              </a:spcBef>
              <a:spcAft>
                <a:spcPts val="1200"/>
              </a:spcAft>
              <a:buNone/>
            </a:pPr>
            <a:r>
              <a:rPr lang="en"/>
              <a:t>Assumption check: the random effects do not </a:t>
            </a:r>
            <a:r>
              <a:rPr lang="en"/>
              <a:t>following normal distribution.</a:t>
            </a:r>
            <a:endParaRPr/>
          </a:p>
        </p:txBody>
      </p:sp>
      <p:pic>
        <p:nvPicPr>
          <p:cNvPr id="264" name="Google Shape;264;p46"/>
          <p:cNvPicPr preferRelativeResize="0"/>
          <p:nvPr/>
        </p:nvPicPr>
        <p:blipFill>
          <a:blip r:embed="rId3">
            <a:alphaModFix/>
          </a:blip>
          <a:stretch>
            <a:fillRect/>
          </a:stretch>
        </p:blipFill>
        <p:spPr>
          <a:xfrm>
            <a:off x="5127148" y="783550"/>
            <a:ext cx="3286000" cy="37150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GLMM - P</a:t>
            </a:r>
            <a:r>
              <a:rPr lang="en"/>
              <a:t>earson residuals</a:t>
            </a:r>
            <a:endParaRPr/>
          </a:p>
        </p:txBody>
      </p:sp>
      <p:sp>
        <p:nvSpPr>
          <p:cNvPr id="270" name="Google Shape;270;p47"/>
          <p:cNvSpPr txBox="1"/>
          <p:nvPr>
            <p:ph idx="1" type="body"/>
          </p:nvPr>
        </p:nvSpPr>
        <p:spPr>
          <a:xfrm>
            <a:off x="311700" y="1239450"/>
            <a:ext cx="2709300" cy="359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Most Pearson residuals fall between -0.1 and 0.3.</a:t>
            </a:r>
            <a:endParaRPr/>
          </a:p>
          <a:p>
            <a:pPr indent="0" lvl="0" marL="0" rtl="0" algn="l">
              <a:spcBef>
                <a:spcPts val="1200"/>
              </a:spcBef>
              <a:spcAft>
                <a:spcPts val="0"/>
              </a:spcAft>
              <a:buNone/>
            </a:pPr>
            <a:r>
              <a:rPr lang="en"/>
              <a:t>The models fit the data very well over time.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71" name="Google Shape;271;p47"/>
          <p:cNvPicPr preferRelativeResize="0"/>
          <p:nvPr/>
        </p:nvPicPr>
        <p:blipFill>
          <a:blip r:embed="rId3">
            <a:alphaModFix/>
          </a:blip>
          <a:stretch>
            <a:fillRect/>
          </a:stretch>
        </p:blipFill>
        <p:spPr>
          <a:xfrm>
            <a:off x="3159775" y="1068425"/>
            <a:ext cx="5596026" cy="39411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GLMM - Longitudinal Trajectories</a:t>
            </a:r>
            <a:endParaRPr/>
          </a:p>
        </p:txBody>
      </p:sp>
      <p:sp>
        <p:nvSpPr>
          <p:cNvPr id="277" name="Google Shape;277;p48"/>
          <p:cNvSpPr txBox="1"/>
          <p:nvPr>
            <p:ph idx="1" type="body"/>
          </p:nvPr>
        </p:nvSpPr>
        <p:spPr>
          <a:xfrm>
            <a:off x="311700" y="1152475"/>
            <a:ext cx="3225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plot show that the diagnosis label of a certain patient does not change over time. </a:t>
            </a:r>
            <a:endParaRPr/>
          </a:p>
          <a:p>
            <a:pPr indent="0" lvl="0" marL="0" rtl="0" algn="l">
              <a:spcBef>
                <a:spcPts val="1200"/>
              </a:spcBef>
              <a:spcAft>
                <a:spcPts val="0"/>
              </a:spcAft>
              <a:buNone/>
            </a:pPr>
            <a:r>
              <a:rPr lang="en"/>
              <a:t>Explain the high variance of random effects and high p-value of coefficients of covariates.</a:t>
            </a:r>
            <a:endParaRPr/>
          </a:p>
          <a:p>
            <a:pPr indent="0" lvl="0" marL="0" rtl="0" algn="l">
              <a:spcBef>
                <a:spcPts val="1200"/>
              </a:spcBef>
              <a:spcAft>
                <a:spcPts val="1200"/>
              </a:spcAft>
              <a:buNone/>
            </a:pPr>
            <a:r>
              <a:rPr lang="en"/>
              <a:t>Suggests GLM</a:t>
            </a:r>
            <a:endParaRPr/>
          </a:p>
        </p:txBody>
      </p:sp>
      <p:pic>
        <p:nvPicPr>
          <p:cNvPr id="278" name="Google Shape;278;p48"/>
          <p:cNvPicPr preferRelativeResize="0"/>
          <p:nvPr/>
        </p:nvPicPr>
        <p:blipFill>
          <a:blip r:embed="rId3">
            <a:alphaModFix/>
          </a:blip>
          <a:stretch>
            <a:fillRect/>
          </a:stretch>
        </p:blipFill>
        <p:spPr>
          <a:xfrm>
            <a:off x="3793225" y="1152475"/>
            <a:ext cx="5166374" cy="30615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9"/>
          <p:cNvSpPr txBox="1"/>
          <p:nvPr>
            <p:ph type="title"/>
          </p:nvPr>
        </p:nvSpPr>
        <p:spPr>
          <a:xfrm>
            <a:off x="375300" y="1714500"/>
            <a:ext cx="83934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Results: Clinical-Assessment Model</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GEE: Empirical vs. Working Correlations</a:t>
            </a:r>
            <a:endParaRPr/>
          </a:p>
        </p:txBody>
      </p:sp>
      <p:sp>
        <p:nvSpPr>
          <p:cNvPr id="289" name="Google Shape;289;p50"/>
          <p:cNvSpPr txBox="1"/>
          <p:nvPr>
            <p:ph idx="1" type="body"/>
          </p:nvPr>
        </p:nvSpPr>
        <p:spPr>
          <a:xfrm>
            <a:off x="5051900" y="1152475"/>
            <a:ext cx="378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AR(1) ultimately selected after observing the empirical correlations structure by lag</a:t>
            </a:r>
            <a:br>
              <a:rPr lang="en"/>
            </a:br>
            <a:endParaRPr/>
          </a:p>
          <a:p>
            <a:pPr indent="-342900" lvl="0" marL="457200" rtl="0" algn="l">
              <a:spcBef>
                <a:spcPts val="0"/>
              </a:spcBef>
              <a:spcAft>
                <a:spcPts val="0"/>
              </a:spcAft>
              <a:buSzPts val="1800"/>
              <a:buChar char="-"/>
            </a:pPr>
            <a:r>
              <a:rPr lang="en"/>
              <a:t>GEE fails: working correlation estimated as =1, subject visits are perfectly correlated</a:t>
            </a:r>
            <a:br>
              <a:rPr lang="en"/>
            </a:br>
            <a:endParaRPr/>
          </a:p>
          <a:p>
            <a:pPr indent="-342900" lvl="0" marL="457200" rtl="0" algn="l">
              <a:spcBef>
                <a:spcPts val="0"/>
              </a:spcBef>
              <a:spcAft>
                <a:spcPts val="0"/>
              </a:spcAft>
              <a:buSzPts val="1800"/>
              <a:buChar char="-"/>
            </a:pPr>
            <a:r>
              <a:rPr lang="en"/>
              <a:t>Due to malignant/benign status not changing over time</a:t>
            </a:r>
            <a:endParaRPr/>
          </a:p>
        </p:txBody>
      </p:sp>
      <p:pic>
        <p:nvPicPr>
          <p:cNvPr id="290" name="Google Shape;290;p50"/>
          <p:cNvPicPr preferRelativeResize="0"/>
          <p:nvPr/>
        </p:nvPicPr>
        <p:blipFill>
          <a:blip r:embed="rId3">
            <a:alphaModFix/>
          </a:blip>
          <a:stretch>
            <a:fillRect/>
          </a:stretch>
        </p:blipFill>
        <p:spPr>
          <a:xfrm>
            <a:off x="311700" y="1256459"/>
            <a:ext cx="4392725" cy="32084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GEE: Final AR(1) Model Results</a:t>
            </a:r>
            <a:endParaRPr/>
          </a:p>
        </p:txBody>
      </p:sp>
      <p:pic>
        <p:nvPicPr>
          <p:cNvPr id="296" name="Google Shape;296;p51"/>
          <p:cNvPicPr preferRelativeResize="0"/>
          <p:nvPr/>
        </p:nvPicPr>
        <p:blipFill>
          <a:blip r:embed="rId3">
            <a:alphaModFix/>
          </a:blip>
          <a:stretch>
            <a:fillRect/>
          </a:stretch>
        </p:blipFill>
        <p:spPr>
          <a:xfrm>
            <a:off x="129138" y="1449100"/>
            <a:ext cx="8885725" cy="26935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GEE: Ranked Features by Estimate Absolute Value</a:t>
            </a:r>
            <a:endParaRPr/>
          </a:p>
        </p:txBody>
      </p:sp>
      <p:pic>
        <p:nvPicPr>
          <p:cNvPr id="302" name="Google Shape;302;p52"/>
          <p:cNvPicPr preferRelativeResize="0"/>
          <p:nvPr/>
        </p:nvPicPr>
        <p:blipFill>
          <a:blip r:embed="rId3">
            <a:alphaModFix/>
          </a:blip>
          <a:stretch>
            <a:fillRect/>
          </a:stretch>
        </p:blipFill>
        <p:spPr>
          <a:xfrm>
            <a:off x="1527763" y="1068425"/>
            <a:ext cx="6088484" cy="37702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GEE: Results Interpretation</a:t>
            </a:r>
            <a:endParaRPr/>
          </a:p>
        </p:txBody>
      </p:sp>
      <p:sp>
        <p:nvSpPr>
          <p:cNvPr id="308" name="Google Shape;308;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Majority of coefficients estimate an odds ratio of 1 or very close to 1; not a particularly helpful model</a:t>
            </a:r>
            <a:br>
              <a:rPr lang="en"/>
            </a:br>
            <a:endParaRPr/>
          </a:p>
          <a:p>
            <a:pPr indent="-342900" lvl="0" marL="457200" rtl="0" algn="l">
              <a:spcBef>
                <a:spcPts val="0"/>
              </a:spcBef>
              <a:spcAft>
                <a:spcPts val="0"/>
              </a:spcAft>
              <a:buSzPts val="1800"/>
              <a:buChar char="-"/>
            </a:pPr>
            <a:r>
              <a:rPr lang="en"/>
              <a:t>As discussed, GEE is a poor choice for this problem context </a:t>
            </a:r>
            <a:br>
              <a:rPr lang="en"/>
            </a:br>
            <a:endParaRPr/>
          </a:p>
          <a:p>
            <a:pPr indent="-342900" lvl="0" marL="457200" rtl="0" algn="l">
              <a:spcBef>
                <a:spcPts val="0"/>
              </a:spcBef>
              <a:spcAft>
                <a:spcPts val="0"/>
              </a:spcAft>
              <a:buSzPts val="1800"/>
              <a:buChar char="-"/>
            </a:pPr>
            <a:r>
              <a:rPr lang="en"/>
              <a:t>Plot of centered &amp; scaled coefficient estimates likely just reflects some random noise in our model; largest coefficient was -0.00014</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GEE: Pearson Residual Plot</a:t>
            </a:r>
            <a:endParaRPr/>
          </a:p>
        </p:txBody>
      </p:sp>
      <p:pic>
        <p:nvPicPr>
          <p:cNvPr id="314" name="Google Shape;314;p54"/>
          <p:cNvPicPr preferRelativeResize="0"/>
          <p:nvPr/>
        </p:nvPicPr>
        <p:blipFill>
          <a:blip r:embed="rId3">
            <a:alphaModFix/>
          </a:blip>
          <a:stretch>
            <a:fillRect/>
          </a:stretch>
        </p:blipFill>
        <p:spPr>
          <a:xfrm>
            <a:off x="222850" y="1068425"/>
            <a:ext cx="4582449" cy="3456350"/>
          </a:xfrm>
          <a:prstGeom prst="rect">
            <a:avLst/>
          </a:prstGeom>
          <a:noFill/>
          <a:ln>
            <a:noFill/>
          </a:ln>
        </p:spPr>
      </p:pic>
      <p:sp>
        <p:nvSpPr>
          <p:cNvPr id="315" name="Google Shape;315;p54"/>
          <p:cNvSpPr txBox="1"/>
          <p:nvPr>
            <p:ph idx="1" type="body"/>
          </p:nvPr>
        </p:nvSpPr>
        <p:spPr>
          <a:xfrm>
            <a:off x="5051900" y="1112525"/>
            <a:ext cx="3780300" cy="3695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Model predicts near constant probability for malignancy depending on benign/malignant status</a:t>
            </a:r>
            <a:br>
              <a:rPr lang="en"/>
            </a:br>
            <a:endParaRPr/>
          </a:p>
          <a:p>
            <a:pPr indent="-342900" lvl="0" marL="457200" rtl="0" algn="l">
              <a:spcBef>
                <a:spcPts val="0"/>
              </a:spcBef>
              <a:spcAft>
                <a:spcPts val="0"/>
              </a:spcAft>
              <a:buSzPts val="1800"/>
              <a:buChar char="-"/>
            </a:pPr>
            <a:r>
              <a:rPr lang="en"/>
              <a:t>Drastically underestimates risk of malignancy for those who actually are malignant</a:t>
            </a:r>
            <a:br>
              <a:rPr lang="en"/>
            </a:br>
            <a:endParaRPr/>
          </a:p>
          <a:p>
            <a:pPr indent="-342900" lvl="0" marL="457200" rtl="0" algn="l">
              <a:spcBef>
                <a:spcPts val="0"/>
              </a:spcBef>
              <a:spcAft>
                <a:spcPts val="0"/>
              </a:spcAft>
              <a:buSzPts val="1800"/>
              <a:buChar char="-"/>
            </a:pPr>
            <a:r>
              <a:rPr lang="en"/>
              <a:t>Evidence of poor context for GEE model</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 Final Logistic Model Results</a:t>
            </a:r>
            <a:endParaRPr/>
          </a:p>
        </p:txBody>
      </p:sp>
      <p:pic>
        <p:nvPicPr>
          <p:cNvPr id="321" name="Google Shape;321;p55"/>
          <p:cNvPicPr preferRelativeResize="0"/>
          <p:nvPr/>
        </p:nvPicPr>
        <p:blipFill>
          <a:blip r:embed="rId3">
            <a:alphaModFix/>
          </a:blip>
          <a:stretch>
            <a:fillRect/>
          </a:stretch>
        </p:blipFill>
        <p:spPr>
          <a:xfrm>
            <a:off x="261938" y="1390650"/>
            <a:ext cx="8620125" cy="2362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 Ranked Features by Estimate Absolute Value</a:t>
            </a:r>
            <a:endParaRPr/>
          </a:p>
        </p:txBody>
      </p:sp>
      <p:pic>
        <p:nvPicPr>
          <p:cNvPr id="327" name="Google Shape;327;p56"/>
          <p:cNvPicPr preferRelativeResize="0"/>
          <p:nvPr/>
        </p:nvPicPr>
        <p:blipFill>
          <a:blip r:embed="rId3">
            <a:alphaModFix/>
          </a:blip>
          <a:stretch>
            <a:fillRect/>
          </a:stretch>
        </p:blipFill>
        <p:spPr>
          <a:xfrm>
            <a:off x="1886925" y="1068425"/>
            <a:ext cx="5370161" cy="37702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 Results Interpretation</a:t>
            </a:r>
            <a:endParaRPr/>
          </a:p>
        </p:txBody>
      </p:sp>
      <p:sp>
        <p:nvSpPr>
          <p:cNvPr id="333" name="Google Shape;333;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GLM baseline model much more helpful for identifying potential risk factors! Since we have subset to the patient’s first visit, no violation of the independence assumption</a:t>
            </a:r>
            <a:br>
              <a:rPr lang="en"/>
            </a:br>
            <a:endParaRPr/>
          </a:p>
          <a:p>
            <a:pPr indent="-342900" lvl="0" marL="457200" rtl="0" algn="l">
              <a:spcBef>
                <a:spcPts val="0"/>
              </a:spcBef>
              <a:spcAft>
                <a:spcPts val="0"/>
              </a:spcAft>
              <a:buSzPts val="1800"/>
              <a:buChar char="-"/>
            </a:pPr>
            <a:r>
              <a:rPr lang="en"/>
              <a:t>Findings somewhat corroborate literature; for example presence of capsular invasion (spread of cells to other areas) largely influences risk of malignancy</a:t>
            </a:r>
            <a:br>
              <a:rPr lang="en"/>
            </a:br>
            <a:endParaRPr/>
          </a:p>
          <a:p>
            <a:pPr indent="-342900" lvl="0" marL="457200" rtl="0" algn="l">
              <a:spcBef>
                <a:spcPts val="0"/>
              </a:spcBef>
              <a:spcAft>
                <a:spcPts val="0"/>
              </a:spcAft>
              <a:buSzPts val="1800"/>
              <a:buChar char="-"/>
            </a:pPr>
            <a:r>
              <a:rPr lang="en"/>
              <a:t>Some predictors </a:t>
            </a:r>
            <a:r>
              <a:rPr lang="en"/>
              <a:t>inconsistent</a:t>
            </a:r>
            <a:r>
              <a:rPr lang="en"/>
              <a:t> with literature; for example, we would expect risk of malignancy to increase with nodule size, though our model shows a negative relationship</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 Pearson Residual Plot</a:t>
            </a:r>
            <a:endParaRPr/>
          </a:p>
        </p:txBody>
      </p:sp>
      <p:sp>
        <p:nvSpPr>
          <p:cNvPr id="339" name="Google Shape;339;p58"/>
          <p:cNvSpPr txBox="1"/>
          <p:nvPr>
            <p:ph idx="1" type="body"/>
          </p:nvPr>
        </p:nvSpPr>
        <p:spPr>
          <a:xfrm>
            <a:off x="5051900" y="1112525"/>
            <a:ext cx="3780300" cy="3695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More representative of what we might expect from logistic regression when compared to GEE</a:t>
            </a:r>
            <a:br>
              <a:rPr lang="en"/>
            </a:br>
            <a:endParaRPr/>
          </a:p>
          <a:p>
            <a:pPr indent="-342900" lvl="0" marL="457200" rtl="0" algn="l">
              <a:spcBef>
                <a:spcPts val="0"/>
              </a:spcBef>
              <a:spcAft>
                <a:spcPts val="0"/>
              </a:spcAft>
              <a:buSzPts val="1800"/>
              <a:buChar char="-"/>
            </a:pPr>
            <a:r>
              <a:rPr lang="en"/>
              <a:t>Assumed mean &amp; variance structures appear adequate</a:t>
            </a:r>
            <a:br>
              <a:rPr lang="en"/>
            </a:br>
            <a:endParaRPr/>
          </a:p>
          <a:p>
            <a:pPr indent="-342900" lvl="0" marL="457200" rtl="0" algn="l">
              <a:spcBef>
                <a:spcPts val="0"/>
              </a:spcBef>
              <a:spcAft>
                <a:spcPts val="0"/>
              </a:spcAft>
              <a:buSzPts val="1800"/>
              <a:buChar char="-"/>
            </a:pPr>
            <a:r>
              <a:rPr lang="en"/>
              <a:t>Still observing under-estimation in probability of malignancy for those who have it</a:t>
            </a:r>
            <a:endParaRPr/>
          </a:p>
        </p:txBody>
      </p:sp>
      <p:pic>
        <p:nvPicPr>
          <p:cNvPr id="340" name="Google Shape;340;p58"/>
          <p:cNvPicPr preferRelativeResize="0"/>
          <p:nvPr/>
        </p:nvPicPr>
        <p:blipFill>
          <a:blip r:embed="rId3">
            <a:alphaModFix/>
          </a:blip>
          <a:stretch>
            <a:fillRect/>
          </a:stretch>
        </p:blipFill>
        <p:spPr>
          <a:xfrm>
            <a:off x="217750" y="1256050"/>
            <a:ext cx="4747101" cy="314584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 Deviance Residual Plot</a:t>
            </a:r>
            <a:endParaRPr/>
          </a:p>
        </p:txBody>
      </p:sp>
      <p:sp>
        <p:nvSpPr>
          <p:cNvPr id="346" name="Google Shape;346;p59"/>
          <p:cNvSpPr txBox="1"/>
          <p:nvPr>
            <p:ph idx="1" type="body"/>
          </p:nvPr>
        </p:nvSpPr>
        <p:spPr>
          <a:xfrm>
            <a:off x="5051900" y="1112525"/>
            <a:ext cx="3780300" cy="3695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Similar comments as Pearson residuals plot</a:t>
            </a:r>
            <a:br>
              <a:rPr lang="en"/>
            </a:br>
            <a:endParaRPr/>
          </a:p>
          <a:p>
            <a:pPr indent="-342900" lvl="0" marL="457200" rtl="0" algn="l">
              <a:spcBef>
                <a:spcPts val="0"/>
              </a:spcBef>
              <a:spcAft>
                <a:spcPts val="0"/>
              </a:spcAft>
              <a:buSzPts val="1800"/>
              <a:buChar char="-"/>
            </a:pPr>
            <a:r>
              <a:rPr lang="en"/>
              <a:t>Indicates that our model struggles more for those who do actually have malignant tumors</a:t>
            </a:r>
            <a:endParaRPr/>
          </a:p>
        </p:txBody>
      </p:sp>
      <p:pic>
        <p:nvPicPr>
          <p:cNvPr id="347" name="Google Shape;347;p59"/>
          <p:cNvPicPr preferRelativeResize="0"/>
          <p:nvPr/>
        </p:nvPicPr>
        <p:blipFill>
          <a:blip r:embed="rId3">
            <a:alphaModFix/>
          </a:blip>
          <a:stretch>
            <a:fillRect/>
          </a:stretch>
        </p:blipFill>
        <p:spPr>
          <a:xfrm>
            <a:off x="152400" y="1220825"/>
            <a:ext cx="4747101" cy="315287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6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GLMM</a:t>
            </a:r>
            <a:r>
              <a:rPr lang="en"/>
              <a:t> Results</a:t>
            </a:r>
            <a:endParaRPr/>
          </a:p>
        </p:txBody>
      </p:sp>
      <p:pic>
        <p:nvPicPr>
          <p:cNvPr id="353" name="Google Shape;353;p60"/>
          <p:cNvPicPr preferRelativeResize="0"/>
          <p:nvPr/>
        </p:nvPicPr>
        <p:blipFill>
          <a:blip r:embed="rId3">
            <a:alphaModFix/>
          </a:blip>
          <a:stretch>
            <a:fillRect/>
          </a:stretch>
        </p:blipFill>
        <p:spPr>
          <a:xfrm>
            <a:off x="180975" y="1333500"/>
            <a:ext cx="8782050" cy="2476500"/>
          </a:xfrm>
          <a:prstGeom prst="rect">
            <a:avLst/>
          </a:prstGeom>
          <a:noFill/>
          <a:ln>
            <a:noFill/>
          </a:ln>
        </p:spPr>
      </p:pic>
      <p:pic>
        <p:nvPicPr>
          <p:cNvPr id="354" name="Google Shape;354;p60"/>
          <p:cNvPicPr preferRelativeResize="0"/>
          <p:nvPr/>
        </p:nvPicPr>
        <p:blipFill>
          <a:blip r:embed="rId4">
            <a:alphaModFix/>
          </a:blip>
          <a:stretch>
            <a:fillRect/>
          </a:stretch>
        </p:blipFill>
        <p:spPr>
          <a:xfrm>
            <a:off x="2421438" y="3875000"/>
            <a:ext cx="6541576" cy="920600"/>
          </a:xfrm>
          <a:prstGeom prst="rect">
            <a:avLst/>
          </a:prstGeom>
          <a:noFill/>
          <a:ln>
            <a:noFill/>
          </a:ln>
        </p:spPr>
      </p:pic>
      <p:pic>
        <p:nvPicPr>
          <p:cNvPr id="355" name="Google Shape;355;p60"/>
          <p:cNvPicPr preferRelativeResize="0"/>
          <p:nvPr/>
        </p:nvPicPr>
        <p:blipFill>
          <a:blip r:embed="rId5">
            <a:alphaModFix/>
          </a:blip>
          <a:stretch>
            <a:fillRect/>
          </a:stretch>
        </p:blipFill>
        <p:spPr>
          <a:xfrm>
            <a:off x="375925" y="3991500"/>
            <a:ext cx="1565325" cy="3164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9" name="Shape 359"/>
        <p:cNvGrpSpPr/>
        <p:nvPr/>
      </p:nvGrpSpPr>
      <p:grpSpPr>
        <a:xfrm>
          <a:off x="0" y="0"/>
          <a:ext cx="0" cy="0"/>
          <a:chOff x="0" y="0"/>
          <a:chExt cx="0" cy="0"/>
        </a:xfrm>
      </p:grpSpPr>
      <p:sp>
        <p:nvSpPr>
          <p:cNvPr id="360" name="Google Shape;360;p61"/>
          <p:cNvSpPr txBox="1"/>
          <p:nvPr>
            <p:ph type="title"/>
          </p:nvPr>
        </p:nvSpPr>
        <p:spPr>
          <a:xfrm>
            <a:off x="84550" y="445025"/>
            <a:ext cx="89364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GLMM: Ranked Features by Estimate Absolute Value</a:t>
            </a:r>
            <a:endParaRPr/>
          </a:p>
        </p:txBody>
      </p:sp>
      <p:pic>
        <p:nvPicPr>
          <p:cNvPr id="361" name="Google Shape;361;p61"/>
          <p:cNvPicPr preferRelativeResize="0"/>
          <p:nvPr/>
        </p:nvPicPr>
        <p:blipFill>
          <a:blip r:embed="rId3">
            <a:alphaModFix/>
          </a:blip>
          <a:stretch>
            <a:fillRect/>
          </a:stretch>
        </p:blipFill>
        <p:spPr>
          <a:xfrm>
            <a:off x="1865463" y="1068425"/>
            <a:ext cx="5413083" cy="37702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6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GLMM - QQ plot and Pearson Residuals</a:t>
            </a:r>
            <a:endParaRPr/>
          </a:p>
        </p:txBody>
      </p:sp>
      <p:sp>
        <p:nvSpPr>
          <p:cNvPr id="367" name="Google Shape;367;p62"/>
          <p:cNvSpPr txBox="1"/>
          <p:nvPr>
            <p:ph idx="1" type="body"/>
          </p:nvPr>
        </p:nvSpPr>
        <p:spPr>
          <a:xfrm>
            <a:off x="311700" y="1152475"/>
            <a:ext cx="3396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QQ plot of random effects for the </a:t>
            </a:r>
            <a:r>
              <a:rPr lang="en"/>
              <a:t>Clinical-Assessment Model also show violation of Normal assumption of random effects. </a:t>
            </a:r>
            <a:endParaRPr/>
          </a:p>
          <a:p>
            <a:pPr indent="0" lvl="0" marL="0" rtl="0" algn="l">
              <a:spcBef>
                <a:spcPts val="1200"/>
              </a:spcBef>
              <a:spcAft>
                <a:spcPts val="0"/>
              </a:spcAft>
              <a:buNone/>
            </a:pPr>
            <a:r>
              <a:rPr lang="en"/>
              <a:t>The Pearson residuals v.s. fitted values plot still indicate a good fit of the model</a:t>
            </a:r>
            <a:endParaRPr/>
          </a:p>
          <a:p>
            <a:pPr indent="0" lvl="0" marL="0" rtl="0" algn="l">
              <a:spcBef>
                <a:spcPts val="1200"/>
              </a:spcBef>
              <a:spcAft>
                <a:spcPts val="1200"/>
              </a:spcAft>
              <a:buNone/>
            </a:pPr>
            <a:r>
              <a:rPr lang="en"/>
              <a:t>GLM would provide better prediction in this situation.  </a:t>
            </a:r>
            <a:endParaRPr/>
          </a:p>
        </p:txBody>
      </p:sp>
      <p:pic>
        <p:nvPicPr>
          <p:cNvPr id="368" name="Google Shape;368;p62"/>
          <p:cNvPicPr preferRelativeResize="0"/>
          <p:nvPr/>
        </p:nvPicPr>
        <p:blipFill rotWithShape="1">
          <a:blip r:embed="rId3">
            <a:alphaModFix/>
          </a:blip>
          <a:srcRect b="0" l="0" r="50077" t="0"/>
          <a:stretch/>
        </p:blipFill>
        <p:spPr>
          <a:xfrm>
            <a:off x="6220158" y="1063824"/>
            <a:ext cx="2508491" cy="3416400"/>
          </a:xfrm>
          <a:prstGeom prst="rect">
            <a:avLst/>
          </a:prstGeom>
          <a:noFill/>
          <a:ln>
            <a:noFill/>
          </a:ln>
        </p:spPr>
      </p:pic>
      <p:pic>
        <p:nvPicPr>
          <p:cNvPr id="369" name="Google Shape;369;p62"/>
          <p:cNvPicPr preferRelativeResize="0"/>
          <p:nvPr/>
        </p:nvPicPr>
        <p:blipFill rotWithShape="1">
          <a:blip r:embed="rId4">
            <a:alphaModFix/>
          </a:blip>
          <a:srcRect b="0" l="3762" r="0" t="0"/>
          <a:stretch/>
        </p:blipFill>
        <p:spPr>
          <a:xfrm>
            <a:off x="3752938" y="1063824"/>
            <a:ext cx="2422583" cy="34164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3" name="Shape 373"/>
        <p:cNvGrpSpPr/>
        <p:nvPr/>
      </p:nvGrpSpPr>
      <p:grpSpPr>
        <a:xfrm>
          <a:off x="0" y="0"/>
          <a:ext cx="0" cy="0"/>
          <a:chOff x="0" y="0"/>
          <a:chExt cx="0" cy="0"/>
        </a:xfrm>
      </p:grpSpPr>
      <p:sp>
        <p:nvSpPr>
          <p:cNvPr id="374" name="Google Shape;374;p6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GLMM: Results Interpretation</a:t>
            </a:r>
            <a:endParaRPr/>
          </a:p>
        </p:txBody>
      </p:sp>
      <p:sp>
        <p:nvSpPr>
          <p:cNvPr id="375" name="Google Shape;375;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Random intercept introduced to allow varying subject characteristics at baseline</a:t>
            </a:r>
            <a:br>
              <a:rPr lang="en"/>
            </a:br>
            <a:endParaRPr/>
          </a:p>
          <a:p>
            <a:pPr indent="-342900" lvl="0" marL="457200" rtl="0" algn="l">
              <a:spcBef>
                <a:spcPts val="0"/>
              </a:spcBef>
              <a:spcAft>
                <a:spcPts val="0"/>
              </a:spcAft>
              <a:buSzPts val="1800"/>
              <a:buChar char="-"/>
            </a:pPr>
            <a:r>
              <a:rPr lang="en"/>
              <a:t>Estimated effects provide an individual level scale </a:t>
            </a:r>
            <a:br>
              <a:rPr lang="en"/>
            </a:br>
            <a:endParaRPr/>
          </a:p>
          <a:p>
            <a:pPr indent="-342900" lvl="0" marL="457200" rtl="0" algn="l">
              <a:spcBef>
                <a:spcPts val="0"/>
              </a:spcBef>
              <a:spcAft>
                <a:spcPts val="0"/>
              </a:spcAft>
              <a:buSzPts val="1800"/>
              <a:buChar char="-"/>
            </a:pPr>
            <a:r>
              <a:rPr lang="en"/>
              <a:t>Visit number associated with decreased risk of malignancy; a very loose interpretation / attempt to guess at what’s happening here is that participants with a higher frequency of visits more likely pursue and adhere to preventative care than those with a smaller frequency of visits, identifying potential malignancies earlier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4"/>
          <p:cNvSpPr txBox="1"/>
          <p:nvPr>
            <p:ph type="title"/>
          </p:nvPr>
        </p:nvSpPr>
        <p:spPr>
          <a:xfrm>
            <a:off x="375300" y="1714500"/>
            <a:ext cx="83934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Results: </a:t>
            </a:r>
            <a:r>
              <a:rPr lang="en"/>
              <a:t>GLM vs GEE vs GLMM</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Theoretical Expectations</a:t>
            </a:r>
            <a:endParaRPr/>
          </a:p>
        </p:txBody>
      </p:sp>
      <p:sp>
        <p:nvSpPr>
          <p:cNvPr id="386" name="Google Shape;386;p65"/>
          <p:cNvSpPr txBox="1"/>
          <p:nvPr>
            <p:ph idx="1" type="body"/>
          </p:nvPr>
        </p:nvSpPr>
        <p:spPr>
          <a:xfrm>
            <a:off x="311700" y="1152475"/>
            <a:ext cx="8520600" cy="3573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2"/>
              </a:buClr>
              <a:buSzPts val="1800"/>
              <a:buChar char="●"/>
            </a:pPr>
            <a:r>
              <a:rPr lang="en">
                <a:solidFill>
                  <a:schemeClr val="dk2"/>
                </a:solidFill>
              </a:rPr>
              <a:t>With no variation in our observed outcome over visits, we should not expect to see GEE perform well</a:t>
            </a:r>
            <a:br>
              <a:rPr lang="en">
                <a:solidFill>
                  <a:schemeClr val="dk2"/>
                </a:solidFill>
              </a:rPr>
            </a:b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Assuming baseline visit status is indicative of the true time benign/malignant tumors were observed, a GLM filtered to this initial visit will give helpful population-level inference</a:t>
            </a:r>
            <a:br>
              <a:rPr lang="en">
                <a:solidFill>
                  <a:schemeClr val="dk2"/>
                </a:solidFill>
              </a:rPr>
            </a:b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GLMM can account for correlation among repeated measures in a subject by including a random intercept; </a:t>
            </a:r>
            <a:r>
              <a:rPr i="1" lang="en">
                <a:solidFill>
                  <a:schemeClr val="dk2"/>
                </a:solidFill>
              </a:rPr>
              <a:t>HOWEVER</a:t>
            </a:r>
            <a:r>
              <a:rPr lang="en">
                <a:solidFill>
                  <a:schemeClr val="dk2"/>
                </a:solidFill>
              </a:rPr>
              <a:t>, since the outcome does not vary, our random intercept reflects the unexplained between-subject differences, improving precision rather than providing subject-level estimates</a:t>
            </a:r>
            <a:endParaRPr>
              <a:solidFill>
                <a:schemeClr val="dk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6"/>
          <p:cNvSpPr txBox="1"/>
          <p:nvPr>
            <p:ph type="title"/>
          </p:nvPr>
        </p:nvSpPr>
        <p:spPr>
          <a:xfrm>
            <a:off x="311700" y="1847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comparison</a:t>
            </a:r>
            <a:endParaRPr/>
          </a:p>
        </p:txBody>
      </p:sp>
      <p:graphicFrame>
        <p:nvGraphicFramePr>
          <p:cNvPr id="392" name="Google Shape;392;p66"/>
          <p:cNvGraphicFramePr/>
          <p:nvPr/>
        </p:nvGraphicFramePr>
        <p:xfrm>
          <a:off x="458275" y="808125"/>
          <a:ext cx="3000000" cy="3000000"/>
        </p:xfrm>
        <a:graphic>
          <a:graphicData uri="http://schemas.openxmlformats.org/drawingml/2006/table">
            <a:tbl>
              <a:tblPr>
                <a:noFill/>
                <a:tableStyleId>{85760800-C3AC-49E0-8DEC-12EEE9EAD7C3}</a:tableStyleId>
              </a:tblPr>
              <a:tblGrid>
                <a:gridCol w="1316275"/>
                <a:gridCol w="3224175"/>
                <a:gridCol w="3308925"/>
              </a:tblGrid>
              <a:tr h="2039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Self-assessment</a:t>
                      </a:r>
                      <a:endParaRPr/>
                    </a:p>
                  </a:txBody>
                  <a:tcPr marT="91425" marB="91425" marR="91425" marL="91425"/>
                </a:tc>
                <a:tc>
                  <a:txBody>
                    <a:bodyPr/>
                    <a:lstStyle/>
                    <a:p>
                      <a:pPr indent="0" lvl="0" marL="0" rtl="0" algn="l">
                        <a:spcBef>
                          <a:spcPts val="0"/>
                        </a:spcBef>
                        <a:spcAft>
                          <a:spcPts val="0"/>
                        </a:spcAft>
                        <a:buNone/>
                      </a:pPr>
                      <a:r>
                        <a:rPr lang="en"/>
                        <a:t>Clinical</a:t>
                      </a:r>
                      <a:endParaRPr/>
                    </a:p>
                  </a:txBody>
                  <a:tcPr marT="91425" marB="91425" marR="91425" marL="91425"/>
                </a:tc>
              </a:tr>
              <a:tr h="1289650">
                <a:tc>
                  <a:txBody>
                    <a:bodyPr/>
                    <a:lstStyle/>
                    <a:p>
                      <a:pPr indent="0" lvl="0" marL="0" rtl="0" algn="l">
                        <a:spcBef>
                          <a:spcPts val="0"/>
                        </a:spcBef>
                        <a:spcAft>
                          <a:spcPts val="0"/>
                        </a:spcAft>
                        <a:buNone/>
                      </a:pPr>
                      <a:r>
                        <a:rPr lang="en"/>
                        <a:t>GLM</a:t>
                      </a:r>
                      <a:endParaRPr/>
                    </a:p>
                  </a:txBody>
                  <a:tcPr marT="91425" marB="91425" marR="91425" marL="91425"/>
                </a:tc>
                <a:tc>
                  <a:txBody>
                    <a:bodyPr/>
                    <a:lstStyle/>
                    <a:p>
                      <a:pPr indent="0" lvl="0" marL="0" rtl="0" algn="l">
                        <a:spcBef>
                          <a:spcPts val="0"/>
                        </a:spcBef>
                        <a:spcAft>
                          <a:spcPts val="0"/>
                        </a:spcAft>
                        <a:buNone/>
                      </a:pPr>
                      <a:r>
                        <a:rPr lang="en"/>
                        <a:t>Estimates are similar to GEE;</a:t>
                      </a:r>
                      <a:endParaRPr/>
                    </a:p>
                    <a:p>
                      <a:pPr indent="0" lvl="0" marL="0" rtl="0" algn="l">
                        <a:spcBef>
                          <a:spcPts val="0"/>
                        </a:spcBef>
                        <a:spcAft>
                          <a:spcPts val="0"/>
                        </a:spcAft>
                        <a:buNone/>
                      </a:pPr>
                      <a:r>
                        <a:rPr lang="en"/>
                        <a:t>W</a:t>
                      </a:r>
                      <a:r>
                        <a:rPr lang="en"/>
                        <a:t>ithin-patient correlation wasn’t accounted (</a:t>
                      </a:r>
                      <a:r>
                        <a:rPr lang="en"/>
                        <a:t>assumed</a:t>
                      </a:r>
                      <a:r>
                        <a:rPr lang="en"/>
                        <a:t> </a:t>
                      </a:r>
                      <a:r>
                        <a:rPr lang="en"/>
                        <a:t>independence</a:t>
                      </a:r>
                      <a:r>
                        <a:rPr lang="en"/>
                        <a:t>) &amp; repeated measures -&gt; </a:t>
                      </a:r>
                      <a:endParaRPr/>
                    </a:p>
                    <a:p>
                      <a:pPr indent="0" lvl="0" marL="0" rtl="0" algn="l">
                        <a:spcBef>
                          <a:spcPts val="0"/>
                        </a:spcBef>
                        <a:spcAft>
                          <a:spcPts val="0"/>
                        </a:spcAft>
                        <a:buNone/>
                      </a:pPr>
                      <a:r>
                        <a:rPr lang="en">
                          <a:solidFill>
                            <a:schemeClr val="dk2"/>
                          </a:solidFill>
                        </a:rPr>
                        <a:t>Smaller SEs +</a:t>
                      </a:r>
                      <a:r>
                        <a:rPr lang="en"/>
                        <a:t> identified BMI and family history as significant predictors</a:t>
                      </a:r>
                      <a:endParaRPr/>
                    </a:p>
                  </a:txBody>
                  <a:tcPr marT="91425" marB="91425" marR="91425" marL="91425"/>
                </a:tc>
                <a:tc>
                  <a:txBody>
                    <a:bodyPr/>
                    <a:lstStyle/>
                    <a:p>
                      <a:pPr indent="0" lvl="0" marL="0" rtl="0" algn="l">
                        <a:spcBef>
                          <a:spcPts val="0"/>
                        </a:spcBef>
                        <a:spcAft>
                          <a:spcPts val="0"/>
                        </a:spcAft>
                        <a:buNone/>
                      </a:pPr>
                      <a:r>
                        <a:rPr lang="en"/>
                        <a:t>Ideal model for problem context. Estimates are larger in general when compared to GLMM; texture entropy identified as significant predictor. Capsular Invasion &amp; TSH influential.</a:t>
                      </a:r>
                      <a:endParaRPr/>
                    </a:p>
                  </a:txBody>
                  <a:tcPr marT="91425" marB="91425" marR="91425" marL="91425"/>
                </a:tc>
              </a:tr>
              <a:tr h="978575">
                <a:tc>
                  <a:txBody>
                    <a:bodyPr/>
                    <a:lstStyle/>
                    <a:p>
                      <a:pPr indent="0" lvl="0" marL="0" rtl="0" algn="l">
                        <a:spcBef>
                          <a:spcPts val="0"/>
                        </a:spcBef>
                        <a:spcAft>
                          <a:spcPts val="0"/>
                        </a:spcAft>
                        <a:buNone/>
                      </a:pPr>
                      <a:r>
                        <a:rPr lang="en"/>
                        <a:t>GEE</a:t>
                      </a:r>
                      <a:endParaRPr/>
                    </a:p>
                  </a:txBody>
                  <a:tcPr marT="91425" marB="91425" marR="91425" marL="91425"/>
                </a:tc>
                <a:tc>
                  <a:txBody>
                    <a:bodyPr/>
                    <a:lstStyle/>
                    <a:p>
                      <a:pPr indent="0" lvl="0" marL="0" rtl="0" algn="l">
                        <a:spcBef>
                          <a:spcPts val="0"/>
                        </a:spcBef>
                        <a:spcAft>
                          <a:spcPts val="0"/>
                        </a:spcAft>
                        <a:buNone/>
                      </a:pPr>
                      <a:r>
                        <a:rPr lang="en">
                          <a:solidFill>
                            <a:schemeClr val="dk2"/>
                          </a:solidFill>
                        </a:rPr>
                        <a:t>No significant predictor.</a:t>
                      </a:r>
                      <a:endParaRPr>
                        <a:solidFill>
                          <a:schemeClr val="dk2"/>
                        </a:solidFill>
                      </a:endParaRPr>
                    </a:p>
                    <a:p>
                      <a:pPr indent="0" lvl="0" marL="0" rtl="0" algn="l">
                        <a:spcBef>
                          <a:spcPts val="0"/>
                        </a:spcBef>
                        <a:spcAft>
                          <a:spcPts val="0"/>
                        </a:spcAft>
                        <a:buNone/>
                      </a:pPr>
                      <a:r>
                        <a:rPr lang="en">
                          <a:solidFill>
                            <a:schemeClr val="dk2"/>
                          </a:solidFill>
                        </a:rPr>
                        <a:t>alpha = 1-&gt; correlation can't be estimated</a:t>
                      </a:r>
                      <a:endParaRPr>
                        <a:solidFill>
                          <a:schemeClr val="dk2"/>
                        </a:solidFill>
                      </a:endParaRPr>
                    </a:p>
                    <a:p>
                      <a:pPr indent="0" lvl="0" marL="0" rtl="0" algn="l">
                        <a:spcBef>
                          <a:spcPts val="0"/>
                        </a:spcBef>
                        <a:spcAft>
                          <a:spcPts val="0"/>
                        </a:spcAft>
                        <a:buNone/>
                      </a:pPr>
                      <a:r>
                        <a:rPr lang="en">
                          <a:solidFill>
                            <a:schemeClr val="dk2"/>
                          </a:solidFill>
                        </a:rPr>
                        <a:t>Larger SEs compared to GLM</a:t>
                      </a:r>
                      <a:endParaRPr>
                        <a:solidFill>
                          <a:schemeClr val="dk2"/>
                        </a:solidFill>
                      </a:endParaRPr>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lang="en"/>
                        <a:t>Not worth discussing – model fails in this context due to perfect correlation.</a:t>
                      </a:r>
                      <a:endParaRPr/>
                    </a:p>
                  </a:txBody>
                  <a:tcPr marT="91425" marB="91425" marR="91425" marL="91425"/>
                </a:tc>
              </a:tr>
              <a:tr h="978575">
                <a:tc>
                  <a:txBody>
                    <a:bodyPr/>
                    <a:lstStyle/>
                    <a:p>
                      <a:pPr indent="0" lvl="0" marL="0" rtl="0" algn="l">
                        <a:spcBef>
                          <a:spcPts val="0"/>
                        </a:spcBef>
                        <a:spcAft>
                          <a:spcPts val="0"/>
                        </a:spcAft>
                        <a:buNone/>
                      </a:pPr>
                      <a:r>
                        <a:rPr lang="en"/>
                        <a:t>GLMM</a:t>
                      </a:r>
                      <a:endParaRPr/>
                    </a:p>
                  </a:txBody>
                  <a:tcPr marT="91425" marB="91425" marR="91425" marL="91425"/>
                </a:tc>
                <a:tc>
                  <a:txBody>
                    <a:bodyPr/>
                    <a:lstStyle/>
                    <a:p>
                      <a:pPr indent="0" lvl="0" marL="0" rtl="0" algn="l">
                        <a:spcBef>
                          <a:spcPts val="0"/>
                        </a:spcBef>
                        <a:spcAft>
                          <a:spcPts val="0"/>
                        </a:spcAft>
                        <a:buNone/>
                      </a:pPr>
                      <a:r>
                        <a:rPr lang="en"/>
                        <a:t>More variability than GLM because random effects accommodate patient-level differences. Similar overall findings compared to GLM.</a:t>
                      </a:r>
                      <a:endParaRPr/>
                    </a:p>
                  </a:txBody>
                  <a:tcPr marT="91425" marB="91425" marR="91425" marL="91425"/>
                </a:tc>
                <a:tc>
                  <a:txBody>
                    <a:bodyPr/>
                    <a:lstStyle/>
                    <a:p>
                      <a:pPr indent="0" lvl="0" marL="0" rtl="0" algn="l">
                        <a:spcBef>
                          <a:spcPts val="0"/>
                        </a:spcBef>
                        <a:spcAft>
                          <a:spcPts val="0"/>
                        </a:spcAft>
                        <a:buNone/>
                      </a:pPr>
                      <a:r>
                        <a:rPr lang="en"/>
                        <a:t>V</a:t>
                      </a:r>
                      <a:r>
                        <a:rPr lang="en"/>
                        <a:t>iolation of normal assumption of random effects – not worth discussing. </a:t>
                      </a:r>
                      <a:endParaRPr/>
                    </a:p>
                  </a:txBody>
                  <a:tcPr marT="91425" marB="91425" marR="91425" marL="91425"/>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67"/>
          <p:cNvPicPr preferRelativeResize="0"/>
          <p:nvPr/>
        </p:nvPicPr>
        <p:blipFill>
          <a:blip r:embed="rId3">
            <a:alphaModFix/>
          </a:blip>
          <a:stretch>
            <a:fillRect/>
          </a:stretch>
        </p:blipFill>
        <p:spPr>
          <a:xfrm>
            <a:off x="532950" y="83200"/>
            <a:ext cx="4838700" cy="48387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8"/>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00"/>
              <a:t>Results</a:t>
            </a:r>
            <a:endParaRPr sz="2500"/>
          </a:p>
        </p:txBody>
      </p:sp>
      <p:sp>
        <p:nvSpPr>
          <p:cNvPr id="403" name="Google Shape;403;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Font typeface="Arial"/>
              <a:buChar char="●"/>
            </a:pPr>
            <a:r>
              <a:rPr b="1" lang="en" sz="2000">
                <a:latin typeface="Arial"/>
                <a:ea typeface="Arial"/>
                <a:cs typeface="Arial"/>
                <a:sym typeface="Arial"/>
              </a:rPr>
              <a:t>Clinical &gt; Self</a:t>
            </a:r>
            <a:r>
              <a:rPr lang="en" sz="2000">
                <a:latin typeface="Arial"/>
                <a:ea typeface="Arial"/>
                <a:cs typeface="Arial"/>
                <a:sym typeface="Arial"/>
              </a:rPr>
              <a:t> for predictive strength and interpretability</a:t>
            </a:r>
            <a:endParaRPr sz="2000">
              <a:latin typeface="Arial"/>
              <a:ea typeface="Arial"/>
              <a:cs typeface="Arial"/>
              <a:sym typeface="Arial"/>
            </a:endParaRPr>
          </a:p>
          <a:p>
            <a:pPr indent="-355600" lvl="0" marL="457200" rtl="0" algn="l">
              <a:spcBef>
                <a:spcPts val="0"/>
              </a:spcBef>
              <a:spcAft>
                <a:spcPts val="0"/>
              </a:spcAft>
              <a:buSzPts val="2000"/>
              <a:buFont typeface="Arial"/>
              <a:buChar char="●"/>
            </a:pPr>
            <a:r>
              <a:rPr b="1" lang="en" sz="2000">
                <a:latin typeface="Arial"/>
                <a:ea typeface="Arial"/>
                <a:cs typeface="Arial"/>
                <a:sym typeface="Arial"/>
              </a:rPr>
              <a:t>Self model:</a:t>
            </a:r>
            <a:r>
              <a:rPr lang="en" sz="2000">
                <a:latin typeface="Arial"/>
                <a:ea typeface="Arial"/>
                <a:cs typeface="Arial"/>
                <a:sym typeface="Arial"/>
              </a:rPr>
              <a:t> only BMI, family history signal; weak overall</a:t>
            </a:r>
            <a:endParaRPr sz="2000">
              <a:latin typeface="Arial"/>
              <a:ea typeface="Arial"/>
              <a:cs typeface="Arial"/>
              <a:sym typeface="Arial"/>
            </a:endParaRPr>
          </a:p>
          <a:p>
            <a:pPr indent="-355600" lvl="0" marL="457200" rtl="0" algn="l">
              <a:spcBef>
                <a:spcPts val="0"/>
              </a:spcBef>
              <a:spcAft>
                <a:spcPts val="0"/>
              </a:spcAft>
              <a:buSzPts val="2000"/>
              <a:buFont typeface="Arial"/>
              <a:buChar char="●"/>
            </a:pPr>
            <a:r>
              <a:rPr b="1" lang="en" sz="2000">
                <a:latin typeface="Arial"/>
                <a:ea typeface="Arial"/>
                <a:cs typeface="Arial"/>
                <a:sym typeface="Arial"/>
              </a:rPr>
              <a:t>GEE fails:</a:t>
            </a:r>
            <a:r>
              <a:rPr lang="en" sz="2000">
                <a:latin typeface="Arial"/>
                <a:ea typeface="Arial"/>
                <a:cs typeface="Arial"/>
                <a:sym typeface="Arial"/>
              </a:rPr>
              <a:t> outcome constant → α ≈ 1, no usable correlation</a:t>
            </a:r>
            <a:endParaRPr sz="2000">
              <a:latin typeface="Arial"/>
              <a:ea typeface="Arial"/>
              <a:cs typeface="Arial"/>
              <a:sym typeface="Arial"/>
            </a:endParaRPr>
          </a:p>
          <a:p>
            <a:pPr indent="-355600" lvl="0" marL="457200" rtl="0" algn="l">
              <a:spcBef>
                <a:spcPts val="0"/>
              </a:spcBef>
              <a:spcAft>
                <a:spcPts val="0"/>
              </a:spcAft>
              <a:buSzPts val="2000"/>
              <a:buFont typeface="Arial"/>
              <a:buChar char="●"/>
            </a:pPr>
            <a:r>
              <a:rPr b="1" lang="en" sz="2000">
                <a:latin typeface="Arial"/>
                <a:ea typeface="Arial"/>
                <a:cs typeface="Arial"/>
                <a:sym typeface="Arial"/>
              </a:rPr>
              <a:t>GLMM ≈ GLM:</a:t>
            </a:r>
            <a:r>
              <a:rPr lang="en" sz="2000">
                <a:latin typeface="Arial"/>
                <a:ea typeface="Arial"/>
                <a:cs typeface="Arial"/>
                <a:sym typeface="Arial"/>
              </a:rPr>
              <a:t> minimal within-patient variation; random effects add little</a:t>
            </a:r>
            <a:endParaRPr sz="2000">
              <a:latin typeface="Arial"/>
              <a:ea typeface="Arial"/>
              <a:cs typeface="Arial"/>
              <a:sym typeface="Arial"/>
            </a:endParaRPr>
          </a:p>
          <a:p>
            <a:pPr indent="-355600" lvl="0" marL="457200" rtl="0" algn="l">
              <a:spcBef>
                <a:spcPts val="0"/>
              </a:spcBef>
              <a:spcAft>
                <a:spcPts val="0"/>
              </a:spcAft>
              <a:buSzPts val="2000"/>
              <a:buFont typeface="Arial"/>
              <a:buChar char="●"/>
            </a:pPr>
            <a:r>
              <a:rPr b="1" lang="en" sz="2000">
                <a:latin typeface="Arial"/>
                <a:ea typeface="Arial"/>
                <a:cs typeface="Arial"/>
                <a:sym typeface="Arial"/>
              </a:rPr>
              <a:t>Best model:</a:t>
            </a:r>
            <a:r>
              <a:rPr lang="en" sz="2000">
                <a:latin typeface="Arial"/>
                <a:ea typeface="Arial"/>
                <a:cs typeface="Arial"/>
                <a:sym typeface="Arial"/>
              </a:rPr>
              <a:t> </a:t>
            </a:r>
            <a:r>
              <a:rPr b="1" lang="en" sz="2000">
                <a:latin typeface="Arial"/>
                <a:ea typeface="Arial"/>
                <a:cs typeface="Arial"/>
                <a:sym typeface="Arial"/>
              </a:rPr>
              <a:t>GLM</a:t>
            </a:r>
            <a:r>
              <a:rPr lang="en" sz="2000">
                <a:latin typeface="Arial"/>
                <a:ea typeface="Arial"/>
                <a:cs typeface="Arial"/>
                <a:sym typeface="Arial"/>
              </a:rPr>
              <a:t> (matches clustered-not-longitudinal structure)</a:t>
            </a:r>
            <a:endParaRPr sz="2000">
              <a:latin typeface="Arial"/>
              <a:ea typeface="Arial"/>
              <a:cs typeface="Arial"/>
              <a:sym typeface="Arial"/>
            </a:endParaRPr>
          </a:p>
          <a:p>
            <a:pPr indent="-355600" lvl="0" marL="457200" rtl="0" algn="l">
              <a:spcBef>
                <a:spcPts val="0"/>
              </a:spcBef>
              <a:spcAft>
                <a:spcPts val="0"/>
              </a:spcAft>
              <a:buSzPts val="2000"/>
              <a:buFont typeface="Arial"/>
              <a:buChar char="●"/>
            </a:pPr>
            <a:r>
              <a:rPr b="1" lang="en" sz="2000">
                <a:latin typeface="Arial"/>
                <a:ea typeface="Arial"/>
                <a:cs typeface="Arial"/>
                <a:sym typeface="Arial"/>
              </a:rPr>
              <a:t>Clinical features:</a:t>
            </a:r>
            <a:r>
              <a:rPr lang="en" sz="2000">
                <a:latin typeface="Arial"/>
                <a:ea typeface="Arial"/>
                <a:cs typeface="Arial"/>
                <a:sym typeface="Arial"/>
              </a:rPr>
              <a:t> capsular invasion, TSH risk, calcification, entropy stand out</a:t>
            </a:r>
            <a:endParaRPr sz="2000">
              <a:latin typeface="Arial"/>
              <a:ea typeface="Arial"/>
              <a:cs typeface="Arial"/>
              <a:sym typeface="Arial"/>
            </a:endParaRPr>
          </a:p>
          <a:p>
            <a:pPr indent="-355600" lvl="0" marL="457200" rtl="0" algn="l">
              <a:spcBef>
                <a:spcPts val="0"/>
              </a:spcBef>
              <a:spcAft>
                <a:spcPts val="0"/>
              </a:spcAft>
              <a:buSzPts val="2000"/>
              <a:buFont typeface="Arial"/>
              <a:buChar char="●"/>
            </a:pPr>
            <a:r>
              <a:rPr b="1" lang="en" sz="2000">
                <a:latin typeface="Arial"/>
                <a:ea typeface="Arial"/>
                <a:cs typeface="Arial"/>
                <a:sym typeface="Arial"/>
              </a:rPr>
              <a:t>Outcome static → limits all longitudinal methods</a:t>
            </a:r>
            <a:endParaRPr sz="20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9"/>
          <p:cNvSpPr txBox="1"/>
          <p:nvPr>
            <p:ph type="title"/>
          </p:nvPr>
        </p:nvSpPr>
        <p:spPr>
          <a:xfrm>
            <a:off x="375300" y="1714500"/>
            <a:ext cx="83934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Discussions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70"/>
          <p:cNvSpPr txBox="1"/>
          <p:nvPr>
            <p:ph type="title"/>
          </p:nvPr>
        </p:nvSpPr>
        <p:spPr>
          <a:xfrm>
            <a:off x="311700" y="4226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GLMM ≈ GLM in our analysis</a:t>
            </a:r>
            <a:endParaRPr/>
          </a:p>
        </p:txBody>
      </p:sp>
      <p:sp>
        <p:nvSpPr>
          <p:cNvPr id="414" name="Google Shape;414;p7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Both models produced nearly identical estimates and SEs.</a:t>
            </a:r>
            <a:endParaRPr sz="1700"/>
          </a:p>
          <a:p>
            <a:pPr indent="-336550" lvl="0" marL="457200" rtl="0" algn="l">
              <a:spcBef>
                <a:spcPts val="0"/>
              </a:spcBef>
              <a:spcAft>
                <a:spcPts val="0"/>
              </a:spcAft>
              <a:buSzPts val="1700"/>
              <a:buChar char="●"/>
            </a:pPr>
            <a:r>
              <a:rPr lang="en" sz="1700"/>
              <a:t>The random intercept variance in the GLMM was very small -&gt; </a:t>
            </a:r>
            <a:r>
              <a:rPr lang="en" sz="1700"/>
              <a:t>large</a:t>
            </a:r>
            <a:r>
              <a:rPr lang="en" sz="1700"/>
              <a:t>, indicating minimal within-patient clustering. </a:t>
            </a:r>
            <a:endParaRPr sz="1700"/>
          </a:p>
          <a:p>
            <a:pPr indent="-336550" lvl="0" marL="457200" rtl="0" algn="l">
              <a:spcBef>
                <a:spcPts val="0"/>
              </a:spcBef>
              <a:spcAft>
                <a:spcPts val="0"/>
              </a:spcAft>
              <a:buSzPts val="1700"/>
              <a:buChar char="●"/>
            </a:pPr>
            <a:r>
              <a:rPr lang="en" sz="1700"/>
              <a:t>Our visits do not represent a true longitudinal trajectory—the outcome does not evolve across time.</a:t>
            </a:r>
            <a:endParaRPr sz="1700"/>
          </a:p>
          <a:p>
            <a:pPr indent="-336550" lvl="0" marL="457200" rtl="0" algn="l">
              <a:spcBef>
                <a:spcPts val="0"/>
              </a:spcBef>
              <a:spcAft>
                <a:spcPts val="0"/>
              </a:spcAft>
              <a:buSzPts val="1700"/>
              <a:buChar char="●"/>
            </a:pPr>
            <a:r>
              <a:rPr lang="en" sz="1700"/>
              <a:t>Predictors vary by visit, but the outcome is essentially static, weakening the correlation structure.</a:t>
            </a:r>
            <a:endParaRPr sz="1700"/>
          </a:p>
          <a:p>
            <a:pPr indent="-336550" lvl="0" marL="457200" rtl="0" algn="l">
              <a:spcBef>
                <a:spcPts val="0"/>
              </a:spcBef>
              <a:spcAft>
                <a:spcPts val="0"/>
              </a:spcAft>
              <a:buSzPts val="1700"/>
              <a:buChar char="●"/>
            </a:pPr>
            <a:r>
              <a:rPr lang="en" sz="1700"/>
              <a:t>With weak intra-patient correlation, the GLMM collapses toward the marginal GLM.</a:t>
            </a:r>
            <a:endParaRPr sz="1700"/>
          </a:p>
          <a:p>
            <a:pPr indent="-336550" lvl="0" marL="457200" rtl="0" algn="l">
              <a:spcBef>
                <a:spcPts val="0"/>
              </a:spcBef>
              <a:spcAft>
                <a:spcPts val="0"/>
              </a:spcAft>
              <a:buSzPts val="1700"/>
              <a:buChar char="●"/>
            </a:pPr>
            <a:r>
              <a:rPr lang="en" sz="1700"/>
              <a:t>As a result, GLMM barely offered any additional explanatory power beyond GLM.</a:t>
            </a:r>
            <a:endParaRPr sz="17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7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a:t>
            </a:r>
            <a:endParaRPr/>
          </a:p>
        </p:txBody>
      </p:sp>
      <p:sp>
        <p:nvSpPr>
          <p:cNvPr id="420" name="Google Shape;420;p71"/>
          <p:cNvSpPr txBox="1"/>
          <p:nvPr>
            <p:ph idx="1" type="body"/>
          </p:nvPr>
        </p:nvSpPr>
        <p:spPr>
          <a:xfrm>
            <a:off x="311700" y="1152475"/>
            <a:ext cx="8520600" cy="3798300"/>
          </a:xfrm>
          <a:prstGeom prst="rect">
            <a:avLst/>
          </a:prstGeom>
        </p:spPr>
        <p:txBody>
          <a:bodyPr anchorCtr="0" anchor="t" bIns="91425" lIns="91425" spcFirstLastPara="1" rIns="91425" wrap="square" tIns="91425">
            <a:normAutofit lnSpcReduction="20000"/>
          </a:bodyPr>
          <a:lstStyle/>
          <a:p>
            <a:pPr indent="-355600" lvl="0" marL="457200" rtl="0" algn="l">
              <a:spcBef>
                <a:spcPts val="0"/>
              </a:spcBef>
              <a:spcAft>
                <a:spcPts val="0"/>
              </a:spcAft>
              <a:buSzPts val="2000"/>
              <a:buChar char="●"/>
            </a:pPr>
            <a:r>
              <a:rPr lang="en" sz="2000"/>
              <a:t>Outcome is constant within each patient</a:t>
            </a:r>
            <a:endParaRPr sz="2000"/>
          </a:p>
          <a:p>
            <a:pPr indent="-355600" lvl="0" marL="457200" rtl="0" algn="l">
              <a:spcBef>
                <a:spcPts val="0"/>
              </a:spcBef>
              <a:spcAft>
                <a:spcPts val="0"/>
              </a:spcAft>
              <a:buSzPts val="2000"/>
              <a:buChar char="●"/>
            </a:pPr>
            <a:r>
              <a:rPr lang="en" sz="2000"/>
              <a:t>GLM treats repeated visits as independent</a:t>
            </a:r>
            <a:endParaRPr sz="2000"/>
          </a:p>
          <a:p>
            <a:pPr indent="-355600" lvl="0" marL="457200" rtl="0" algn="l">
              <a:spcBef>
                <a:spcPts val="0"/>
              </a:spcBef>
              <a:spcAft>
                <a:spcPts val="0"/>
              </a:spcAft>
              <a:buSzPts val="2000"/>
              <a:buChar char="●"/>
            </a:pPr>
            <a:r>
              <a:rPr lang="en" sz="2000"/>
              <a:t>Scan quality may vary across centers and scan types</a:t>
            </a:r>
            <a:endParaRPr sz="2000"/>
          </a:p>
          <a:p>
            <a:pPr indent="-355600" lvl="1" marL="914400" rtl="0" algn="l">
              <a:spcBef>
                <a:spcPts val="0"/>
              </a:spcBef>
              <a:spcAft>
                <a:spcPts val="0"/>
              </a:spcAft>
              <a:buSzPts val="2000"/>
              <a:buChar char="○"/>
            </a:pPr>
            <a:r>
              <a:rPr lang="en" sz="2000"/>
              <a:t>misclassification of Diagnosis_Label</a:t>
            </a:r>
            <a:endParaRPr sz="2000"/>
          </a:p>
          <a:p>
            <a:pPr indent="-355600" lvl="0" marL="457200" rtl="0" algn="l">
              <a:spcBef>
                <a:spcPts val="0"/>
              </a:spcBef>
              <a:spcAft>
                <a:spcPts val="0"/>
              </a:spcAft>
              <a:buSzPts val="2000"/>
              <a:buChar char="●"/>
            </a:pPr>
            <a:r>
              <a:rPr lang="en" sz="2000"/>
              <a:t>Self-assessment measures may be inaccurate</a:t>
            </a:r>
            <a:endParaRPr sz="2000"/>
          </a:p>
          <a:p>
            <a:pPr indent="-355600" lvl="0" marL="457200" rtl="0" algn="l">
              <a:spcBef>
                <a:spcPts val="0"/>
              </a:spcBef>
              <a:spcAft>
                <a:spcPts val="0"/>
              </a:spcAft>
              <a:buSzPts val="2000"/>
              <a:buChar char="●"/>
            </a:pPr>
            <a:r>
              <a:rPr lang="en" sz="2000"/>
              <a:t>Models </a:t>
            </a:r>
            <a:r>
              <a:rPr lang="en" sz="2000"/>
              <a:t>rely</a:t>
            </a:r>
            <a:r>
              <a:rPr lang="en" sz="2000"/>
              <a:t> on simplifying assumptions</a:t>
            </a:r>
            <a:endParaRPr sz="2000"/>
          </a:p>
          <a:p>
            <a:pPr indent="-355600" lvl="1" marL="914400" rtl="0" algn="l">
              <a:spcBef>
                <a:spcPts val="0"/>
              </a:spcBef>
              <a:spcAft>
                <a:spcPts val="0"/>
              </a:spcAft>
              <a:buSzPts val="2000"/>
              <a:buChar char="○"/>
            </a:pPr>
            <a:r>
              <a:rPr lang="en" sz="2000"/>
              <a:t>GLM: independence</a:t>
            </a:r>
            <a:endParaRPr sz="2000"/>
          </a:p>
          <a:p>
            <a:pPr indent="-355600" lvl="1" marL="914400" rtl="0" algn="l">
              <a:spcBef>
                <a:spcPts val="0"/>
              </a:spcBef>
              <a:spcAft>
                <a:spcPts val="0"/>
              </a:spcAft>
              <a:buSzPts val="2000"/>
              <a:buChar char="○"/>
            </a:pPr>
            <a:r>
              <a:rPr lang="en" sz="2000"/>
              <a:t>GEE: working correlation structure</a:t>
            </a:r>
            <a:endParaRPr sz="2000"/>
          </a:p>
          <a:p>
            <a:pPr indent="-355600" lvl="1" marL="914400" rtl="0" algn="l">
              <a:spcBef>
                <a:spcPts val="0"/>
              </a:spcBef>
              <a:spcAft>
                <a:spcPts val="0"/>
              </a:spcAft>
              <a:buSzPts val="2000"/>
              <a:buChar char="○"/>
            </a:pPr>
            <a:r>
              <a:rPr lang="en" sz="2000"/>
              <a:t>GLMM: random effects ~ N</a:t>
            </a:r>
            <a:endParaRPr sz="2000"/>
          </a:p>
          <a:p>
            <a:pPr indent="-355600" lvl="0" marL="457200" rtl="0" algn="l">
              <a:spcBef>
                <a:spcPts val="0"/>
              </a:spcBef>
              <a:spcAft>
                <a:spcPts val="0"/>
              </a:spcAft>
              <a:buSzPts val="2000"/>
              <a:buChar char="●"/>
            </a:pPr>
            <a:r>
              <a:rPr lang="en" sz="2000"/>
              <a:t>Limited dataset documentation</a:t>
            </a:r>
            <a:endParaRPr sz="2000"/>
          </a:p>
          <a:p>
            <a:pPr indent="-355600" lvl="1" marL="914400" rtl="0" algn="l">
              <a:spcBef>
                <a:spcPts val="0"/>
              </a:spcBef>
              <a:spcAft>
                <a:spcPts val="0"/>
              </a:spcAft>
              <a:buSzPts val="2000"/>
              <a:buChar char="○"/>
            </a:pPr>
            <a:r>
              <a:rPr lang="en" sz="2000"/>
              <a:t>Data cleaning/preprocessing</a:t>
            </a:r>
            <a:endParaRPr sz="2000"/>
          </a:p>
          <a:p>
            <a:pPr indent="-355600" lvl="1" marL="914400" rtl="0" algn="l">
              <a:spcBef>
                <a:spcPts val="0"/>
              </a:spcBef>
              <a:spcAft>
                <a:spcPts val="0"/>
              </a:spcAft>
              <a:buSzPts val="2000"/>
              <a:buChar char="○"/>
            </a:pPr>
            <a:r>
              <a:rPr lang="en" sz="2000"/>
              <a:t>Missing data handling</a:t>
            </a:r>
            <a:endParaRPr sz="20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7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600"/>
              <a:t>Future Steps</a:t>
            </a:r>
            <a:endParaRPr/>
          </a:p>
        </p:txBody>
      </p:sp>
      <p:sp>
        <p:nvSpPr>
          <p:cNvPr id="426" name="Google Shape;426;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en" sz="2100"/>
              <a:t>Incorporate thyroid cancer subtypes (Cancer_Type)</a:t>
            </a:r>
            <a:endParaRPr sz="2100"/>
          </a:p>
          <a:p>
            <a:pPr indent="-361950" lvl="0" marL="457200" rtl="0" algn="l">
              <a:spcBef>
                <a:spcPts val="0"/>
              </a:spcBef>
              <a:spcAft>
                <a:spcPts val="0"/>
              </a:spcAft>
              <a:buSzPts val="2100"/>
              <a:buChar char="●"/>
            </a:pPr>
            <a:r>
              <a:rPr lang="en" sz="2100"/>
              <a:t>Combine self-assessment and clinical models</a:t>
            </a:r>
            <a:endParaRPr sz="2100"/>
          </a:p>
          <a:p>
            <a:pPr indent="-361950" lvl="0" marL="457200" rtl="0" algn="l">
              <a:spcBef>
                <a:spcPts val="0"/>
              </a:spcBef>
              <a:spcAft>
                <a:spcPts val="0"/>
              </a:spcAft>
              <a:buSzPts val="2100"/>
              <a:buChar char="●"/>
            </a:pPr>
            <a:r>
              <a:rPr lang="en" sz="2100"/>
              <a:t>Model time more carefully</a:t>
            </a:r>
            <a:endParaRPr sz="2100"/>
          </a:p>
          <a:p>
            <a:pPr indent="-336550" lvl="1" marL="914400" rtl="0" algn="l">
              <a:spcBef>
                <a:spcPts val="0"/>
              </a:spcBef>
              <a:spcAft>
                <a:spcPts val="0"/>
              </a:spcAft>
              <a:buSzPts val="1700"/>
              <a:buChar char="○"/>
            </a:pPr>
            <a:r>
              <a:rPr lang="en" sz="1700"/>
              <a:t>Replace visit time with exact time since baseline</a:t>
            </a:r>
            <a:endParaRPr sz="1700"/>
          </a:p>
          <a:p>
            <a:pPr indent="-361950" lvl="0" marL="457200" rtl="0" algn="l">
              <a:spcBef>
                <a:spcPts val="0"/>
              </a:spcBef>
              <a:spcAft>
                <a:spcPts val="0"/>
              </a:spcAft>
              <a:buSzPts val="2100"/>
              <a:buChar char="●"/>
            </a:pPr>
            <a:r>
              <a:rPr lang="en" sz="2100"/>
              <a:t>Improve model </a:t>
            </a:r>
            <a:r>
              <a:rPr lang="en" sz="2100"/>
              <a:t>complexity</a:t>
            </a:r>
            <a:r>
              <a:rPr lang="en" sz="2100"/>
              <a:t> </a:t>
            </a:r>
            <a:endParaRPr sz="2100"/>
          </a:p>
          <a:p>
            <a:pPr indent="-361950" lvl="1" marL="914400" rtl="0" algn="l">
              <a:spcBef>
                <a:spcPts val="0"/>
              </a:spcBef>
              <a:spcAft>
                <a:spcPts val="0"/>
              </a:spcAft>
              <a:buSzPts val="2100"/>
              <a:buChar char="○"/>
            </a:pPr>
            <a:r>
              <a:rPr lang="en" sz="2100"/>
              <a:t>Add interactions</a:t>
            </a:r>
            <a:endParaRPr sz="2100"/>
          </a:p>
          <a:p>
            <a:pPr indent="-361950" lvl="0" marL="457200" rtl="0" algn="l">
              <a:spcBef>
                <a:spcPts val="0"/>
              </a:spcBef>
              <a:spcAft>
                <a:spcPts val="0"/>
              </a:spcAft>
              <a:buSzPts val="2100"/>
              <a:buChar char="●"/>
            </a:pPr>
            <a:r>
              <a:rPr lang="en" sz="2100"/>
              <a:t>Account for center </a:t>
            </a:r>
            <a:r>
              <a:rPr lang="en" sz="2100"/>
              <a:t>differences</a:t>
            </a:r>
            <a:endParaRPr sz="2100"/>
          </a:p>
          <a:p>
            <a:pPr indent="-361950" lvl="1" marL="914400" rtl="0" algn="l">
              <a:spcBef>
                <a:spcPts val="0"/>
              </a:spcBef>
              <a:spcAft>
                <a:spcPts val="0"/>
              </a:spcAft>
              <a:buSzPts val="2100"/>
              <a:buChar char="○"/>
            </a:pPr>
            <a:r>
              <a:rPr lang="en" sz="2100"/>
              <a:t>Split analysis by center</a:t>
            </a:r>
            <a:endParaRPr sz="21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7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432" name="Google Shape;432;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308610" lvl="0" marL="457200" rtl="0" algn="l">
              <a:spcBef>
                <a:spcPts val="0"/>
              </a:spcBef>
              <a:spcAft>
                <a:spcPts val="0"/>
              </a:spcAft>
              <a:buSzPct val="100000"/>
              <a:buAutoNum type="arabicPeriod"/>
            </a:pPr>
            <a:r>
              <a:rPr lang="en"/>
              <a:t>Pellegriti, Gabriella, et al. “Worldwide Increasing Incidence of Thyroid Cancer: Update on Epidemiology and Risk Factors.” Journal of Cancer Epidemiology, vol. 2013, 2013, pp. 1–10. DOI.org (Crossref), </a:t>
            </a:r>
            <a:r>
              <a:rPr lang="en" u="sng">
                <a:solidFill>
                  <a:schemeClr val="hlink"/>
                </a:solidFill>
                <a:hlinkClick r:id="rId3"/>
              </a:rPr>
              <a:t>https://doi.org/10.1155/2013/965212</a:t>
            </a:r>
            <a:r>
              <a:rPr lang="en"/>
              <a:t>.  </a:t>
            </a:r>
            <a:endParaRPr/>
          </a:p>
          <a:p>
            <a:pPr indent="-308610" lvl="0" marL="457200" rtl="0" algn="l">
              <a:spcBef>
                <a:spcPts val="0"/>
              </a:spcBef>
              <a:spcAft>
                <a:spcPts val="0"/>
              </a:spcAft>
              <a:buSzPct val="100000"/>
              <a:buAutoNum type="arabicPeriod"/>
            </a:pPr>
            <a:r>
              <a:rPr lang="en"/>
              <a:t>Usefulness of Different Ultrasound Features of Malignancy in Predicting the Type of Thyroid Lesions: A Meta‑analysis of Prospective Studies. </a:t>
            </a:r>
            <a:r>
              <a:rPr lang="en">
                <a:uFill>
                  <a:noFill/>
                </a:uFill>
                <a:hlinkClick r:id="rId4"/>
              </a:rPr>
              <a:t>https://doi.org/10.20452/pamw.2132</a:t>
            </a:r>
            <a:r>
              <a:rPr lang="en"/>
              <a:t>.</a:t>
            </a:r>
            <a:r>
              <a:rPr lang="en"/>
              <a:t> Accessed 26 Nov. 2025  </a:t>
            </a:r>
            <a:endParaRPr/>
          </a:p>
          <a:p>
            <a:pPr indent="-308610" lvl="0" marL="457200" rtl="0" algn="l">
              <a:spcBef>
                <a:spcPts val="0"/>
              </a:spcBef>
              <a:spcAft>
                <a:spcPts val="0"/>
              </a:spcAft>
              <a:buSzPct val="100000"/>
              <a:buAutoNum type="arabicPeriod"/>
            </a:pPr>
            <a:r>
              <a:rPr lang="en"/>
              <a:t>Gu, Jianhua, et al. “A Machine Learning-Based Approach to Predicting the Malignant and Metastasis of Thyroid Cancer.” Frontiers in Oncology, vol. 12, Dec. 2022, p. 938292. DOI.org (Crossref), </a:t>
            </a:r>
            <a:r>
              <a:rPr lang="en" u="sng">
                <a:solidFill>
                  <a:schemeClr val="hlink"/>
                </a:solidFill>
                <a:hlinkClick r:id="rId5"/>
              </a:rPr>
              <a:t>https://doi.org/10.3389/fonc.2022.938292</a:t>
            </a:r>
            <a:r>
              <a:rPr lang="en"/>
              <a:t>. </a:t>
            </a:r>
            <a:endParaRPr/>
          </a:p>
          <a:p>
            <a:pPr indent="-308610" lvl="0" marL="457200" rtl="0" algn="l">
              <a:spcBef>
                <a:spcPts val="0"/>
              </a:spcBef>
              <a:spcAft>
                <a:spcPts val="0"/>
              </a:spcAft>
              <a:buSzPct val="100000"/>
              <a:buAutoNum type="arabicPeriod"/>
            </a:pPr>
            <a:r>
              <a:rPr lang="en"/>
              <a:t>Ross, Douglas S. “Predicting Thyroid Malignancy.” The Journal of Clinical Endocrinology &amp; Metabolism, vol. 91, no. 11, Nov. 2006, pp. 4253–55. DOI.org (Crossref), </a:t>
            </a:r>
            <a:r>
              <a:rPr lang="en" u="sng">
                <a:solidFill>
                  <a:schemeClr val="hlink"/>
                </a:solidFill>
                <a:hlinkClick r:id="rId6"/>
              </a:rPr>
              <a:t>https://doi.org/10.1210/jc.2006-1772</a:t>
            </a:r>
            <a:r>
              <a:rPr lang="en"/>
              <a:t>. </a:t>
            </a:r>
            <a:endParaRPr/>
          </a:p>
          <a:p>
            <a:pPr indent="-308610" lvl="0" marL="457200" rtl="0" algn="l">
              <a:spcBef>
                <a:spcPts val="0"/>
              </a:spcBef>
              <a:spcAft>
                <a:spcPts val="0"/>
              </a:spcAft>
              <a:buSzPct val="100000"/>
              <a:buAutoNum type="arabicPeriod"/>
            </a:pPr>
            <a:r>
              <a:rPr lang="en"/>
              <a:t>Wu, MH., Chen, CN., Chen, KY. et al. Quantitative analysis of echogenicity for patients with thyroid nodules. Sci Rep 6, 35632 (2016). </a:t>
            </a:r>
            <a:r>
              <a:rPr lang="en" u="sng">
                <a:solidFill>
                  <a:schemeClr val="hlink"/>
                </a:solidFill>
                <a:hlinkClick r:id="rId7"/>
              </a:rPr>
              <a:t>https://doi.org/10.1038/srep35632</a:t>
            </a:r>
            <a:r>
              <a:rPr lang="en"/>
              <a:t> </a:t>
            </a:r>
            <a:endParaRPr/>
          </a:p>
          <a:p>
            <a:pPr indent="-308610" lvl="0" marL="457200" rtl="0" algn="l">
              <a:spcBef>
                <a:spcPts val="0"/>
              </a:spcBef>
              <a:spcAft>
                <a:spcPts val="0"/>
              </a:spcAft>
              <a:buSzPct val="100000"/>
              <a:buAutoNum type="arabicPeriod"/>
            </a:pPr>
            <a:r>
              <a:rPr lang="en"/>
              <a:t>Incoronato, Mariarosaria, et al. “Radiogenomic Analysis of Oncological Data: A Technical Survey.” International Journal of Molecular Sciences, vol. 18, no. 4, Apr. 2017, p. 805. DOI.org (Crossref), </a:t>
            </a:r>
            <a:r>
              <a:rPr lang="en" u="sng">
                <a:solidFill>
                  <a:schemeClr val="hlink"/>
                </a:solidFill>
                <a:hlinkClick r:id="rId8"/>
              </a:rPr>
              <a:t>https://doi.org/10.3390/ijms18040805</a:t>
            </a:r>
            <a:r>
              <a:rPr lang="en"/>
              <a:t>. </a:t>
            </a:r>
            <a:endParaRPr/>
          </a:p>
          <a:p>
            <a:pPr indent="-308610" lvl="0" marL="457200" rtl="0" algn="l">
              <a:spcBef>
                <a:spcPts val="0"/>
              </a:spcBef>
              <a:spcAft>
                <a:spcPts val="0"/>
              </a:spcAft>
              <a:buSzPct val="100000"/>
              <a:buAutoNum type="arabicPeriod"/>
            </a:pPr>
            <a:r>
              <a:rPr lang="en"/>
              <a:t>Li, Luchuan, et al. “Positive Thyroid Peroxidase Antibody and Thyroglobulin Antibody Are Associated With Better Clinicopathologic Features of Papillary Thyroid Cancer.” Endocrine Practice, vol. 27, no. 4, Apr. 2021, pp. 306–11. DOI.org (Crossref), </a:t>
            </a:r>
            <a:r>
              <a:rPr lang="en" u="sng">
                <a:solidFill>
                  <a:schemeClr val="hlink"/>
                </a:solidFill>
                <a:hlinkClick r:id="rId9"/>
              </a:rPr>
              <a:t>https://doi.org/10.1016/j.eprac.2020.10.017</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